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38328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64008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spc="100">
                <a:solidFill>
                  <a:srgbClr val="8E96FF"/>
                </a:solidFill>
                <a:latin typeface="微软雅黑"/>
                <a:ea typeface="微软雅黑"/>
              </a:rPr>
              <a:t>ETERU · 项目汇报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700" b="1" spc="20">
                <a:solidFill>
                  <a:srgbClr val="FFFFFF"/>
                </a:solidFill>
                <a:latin typeface="微软雅黑"/>
                <a:ea typeface="微软雅黑"/>
              </a:rPr>
              <a:t>基于 AIGC 的课程知识图谱</a:t>
            </a:r>
          </a:p>
          <a:p>
            <a:pPr algn="l">
              <a:lnSpc>
                <a:spcPct val="112000"/>
              </a:lnSpc>
            </a:pPr>
            <a:r>
              <a:rPr sz="3700" b="1" spc="20">
                <a:solidFill>
                  <a:srgbClr val="FFFFFF"/>
                </a:solidFill>
                <a:latin typeface="微软雅黑"/>
                <a:ea typeface="微软雅黑"/>
              </a:rPr>
              <a:t>智能构建与学习导航系统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614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E96FF"/>
                </a:solidFill>
                <a:latin typeface="微软雅黑"/>
                <a:ea typeface="微软雅黑"/>
              </a:rPr>
              <a:t>上传即建图</a:t>
            </a:r>
            <a:r>
              <a:rPr sz="1500" b="0">
                <a:solidFill>
                  <a:srgbClr val="9AA3D0"/>
                </a:solidFill>
                <a:latin typeface="微软雅黑"/>
                <a:ea typeface="微软雅黑"/>
              </a:rPr>
              <a:t> · </a:t>
            </a:r>
            <a:r>
              <a:rPr sz="1500" b="1">
                <a:solidFill>
                  <a:srgbClr val="8E96FF"/>
                </a:solidFill>
                <a:latin typeface="微软雅黑"/>
                <a:ea typeface="微软雅黑"/>
              </a:rPr>
              <a:t>可解释学习路径</a:t>
            </a:r>
            <a:r>
              <a:rPr sz="1500" b="0">
                <a:solidFill>
                  <a:srgbClr val="9AA3D0"/>
                </a:solidFill>
                <a:latin typeface="微软雅黑"/>
                <a:ea typeface="微软雅黑"/>
              </a:rPr>
              <a:t> · </a:t>
            </a:r>
            <a:r>
              <a:rPr sz="1500" b="1">
                <a:solidFill>
                  <a:srgbClr val="8E96FF"/>
                </a:solidFill>
                <a:latin typeface="微软雅黑"/>
                <a:ea typeface="微软雅黑"/>
              </a:rPr>
              <a:t>有据不编造的教材问答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94760"/>
            <a:ext cx="3442106" cy="1188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794760"/>
            <a:ext cx="64008" cy="1188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968496"/>
            <a:ext cx="30763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E6AD2"/>
                </a:solidFill>
                <a:latin typeface="微软雅黑"/>
                <a:ea typeface="微软雅黑"/>
              </a:rPr>
              <a:t>教师端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407408"/>
            <a:ext cx="307634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C3138"/>
                </a:solidFill>
                <a:latin typeface="微软雅黑"/>
                <a:ea typeface="微软雅黑"/>
              </a:rPr>
              <a:t>上传即建图 · 手动可修正 · 自定义模型接入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3794760"/>
            <a:ext cx="3442106" cy="1188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3794760"/>
            <a:ext cx="64008" cy="1188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3968496"/>
            <a:ext cx="30763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E6AD2"/>
                </a:solidFill>
                <a:latin typeface="微软雅黑"/>
                <a:ea typeface="微软雅黑"/>
              </a:rPr>
              <a:t>学生端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4407408"/>
            <a:ext cx="307634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C3138"/>
                </a:solidFill>
                <a:latin typeface="微软雅黑"/>
                <a:ea typeface="微软雅黑"/>
              </a:rPr>
              <a:t>图谱浏览 · 掌握勾选 · 路径推荐 · 智能问答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2660" y="3794760"/>
            <a:ext cx="3442106" cy="11887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2660" y="3794760"/>
            <a:ext cx="64008" cy="1188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3968496"/>
            <a:ext cx="30763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E6AD2"/>
                </a:solidFill>
                <a:latin typeface="微软雅黑"/>
                <a:ea typeface="微软雅黑"/>
              </a:rPr>
              <a:t>管理员后台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407408"/>
            <a:ext cx="307634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C3138"/>
                </a:solidFill>
                <a:latin typeface="微软雅黑"/>
                <a:ea typeface="微软雅黑"/>
              </a:rPr>
              <a:t>角色权限 · API 密钥池 · 图数据与课程维护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11057839" cy="12700"/>
          </a:xfrm>
          <a:prstGeom prst="rect">
            <a:avLst/>
          </a:prstGeom>
          <a:solidFill>
            <a:srgbClr val="C9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77900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B1F24"/>
                </a:solidFill>
                <a:latin typeface="微软雅黑"/>
                <a:ea typeface="微软雅黑"/>
              </a:rPr>
              <a:t>参赛团队  EterU</a:t>
            </a:r>
            <a:r>
              <a:rPr sz="1300" b="1">
                <a:solidFill>
                  <a:srgbClr val="1B1F24"/>
                </a:solidFill>
                <a:latin typeface="微软雅黑"/>
                <a:ea typeface="微软雅黑"/>
              </a:rPr>
              <a:t>     指导老师  袁汉春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浙江师范大学第九届服务外包大赛 · 赛题 A10【杭州金扬智能科技有限公司】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背景与痛点：图谱“看得懂、建不起”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课程知识图谱教学价值明确，但人工建图与个性化导航长期难以落地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3186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知识孤岛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314949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知识点散落在教材、课件、教案等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非结构化文档中，彼此关联隐式，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学生难以纵览课程全貌。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719072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821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098" y="1856232"/>
            <a:ext cx="3186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学习易迷路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2286000"/>
            <a:ext cx="314949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“现在该学什么、接下来能学什么”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缺乏显式先修指引，学习顺序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凭感觉，常在先修关系上走弯路。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1719072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950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2388" y="1856232"/>
            <a:ext cx="3186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建图门槛高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286000"/>
            <a:ext cx="314949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传统图谱依赖教师/专家手工整理，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工作量大、周期长、更新难，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无法规模化推广到多门课程。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96512"/>
            <a:ext cx="11057839" cy="1691640"/>
          </a:xfrm>
          <a:prstGeom prst="roundRect">
            <a:avLst>
              <a:gd name="adj" fmla="val 6000"/>
            </a:avLst>
          </a:prstGeom>
          <a:solidFill>
            <a:srgbClr val="EEF0FB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279392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微软雅黑"/>
                <a:ea typeface="微软雅黑"/>
              </a:rPr>
              <a:t>AIGC 带来的破局点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2C3138"/>
                </a:solidFill>
                <a:latin typeface="微软雅黑"/>
                <a:ea typeface="微软雅黑"/>
              </a:rPr>
              <a:t>大语言模型能从自然语言教材中自动抽取知识点实体与语义关系，把“数周级手工建图”压缩为“上传即得的一分钟级自动流程”；</a:t>
            </a:r>
          </a:p>
          <a:p>
            <a:pPr algn="l">
              <a:lnSpc>
                <a:spcPct val="135000"/>
              </a:lnSpc>
            </a:pPr>
            <a:r>
              <a:rPr sz="1280" b="0">
                <a:solidFill>
                  <a:srgbClr val="2C3138"/>
                </a:solidFill>
                <a:latin typeface="微软雅黑"/>
                <a:ea typeface="微软雅黑"/>
              </a:rPr>
              <a:t>再叠加基于图谱的学习路径推荐与严格依据教材的检索问答，教学从“经验驱动”走向“数据驱动、可解释、可溯源”。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方案总览：一条端到端的自动化链路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上传课程资料 → 解析 → 抽取建图 → 交互可视化 → 个性化导航与问答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资料上传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PDF / TXT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62032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文档解析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清洗·章节切块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29744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02352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知识抽取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实体 + 三类关系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97456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70064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图谱可视化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ECharts 力导向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65168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37776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智能导航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问答 + 路径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30" b="0">
                <a:solidFill>
                  <a:srgbClr val="6B7280"/>
                </a:solidFill>
                <a:latin typeface="微软雅黑"/>
                <a:ea typeface="微软雅黑"/>
              </a:rPr>
              <a:t>教师上传一份教材，系统分钟级产出结构化知识图谱；未配置 API Key 时自动进入离线演示模式，全流程照常可跑通。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291840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438144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429000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教师端 · 学生端 · 管理员端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858768"/>
            <a:ext cx="5025999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教师：上传即建图，图谱与关系可手动增删改（赛题加分项）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学生：缩放拖拽浏览图谱、按章节勾选“已掌握”，获得带理由的路径推荐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管理员：角色权限、多模型 API 密钥池、课程与图数据维护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多课程按 courseId 全链路隔离，一次部署服务多门课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3291840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3007" y="3438144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5887" y="3429000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两种运行模式，随时无缝切换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3858768"/>
            <a:ext cx="5025999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1">
                <a:solidFill>
                  <a:srgbClr val="2C3138"/>
                </a:solidFill>
                <a:latin typeface="微软雅黑"/>
                <a:ea typeface="微软雅黑"/>
              </a:rPr>
              <a:t>在线模式：</a:t>
            </a: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配置 DeepSeek/通义等 Key，LLM 真实抽取 + 流式问答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2C3138"/>
                </a:solidFill>
                <a:latin typeface="微软雅黑"/>
                <a:ea typeface="微软雅黑"/>
              </a:rPr>
              <a:t>离线模式：</a:t>
            </a: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无 Key 自动启用内置演示图谱与教材摘录式问答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零配置即可评审；填 Key 即切在线，代码零改动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上传响应携带数据来源标志，演示数据与真实抽取清晰可辨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总体架构：四层单向依赖，存储可插拔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Next.js 15 全栈同构 · TypeScript 全程约束 · zod 运行时校验 · 依赖已全面升级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1481328" cy="78638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19072"/>
            <a:ext cx="148132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前端层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719072"/>
            <a:ext cx="9430207" cy="786384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1792224"/>
            <a:ext cx="9046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角色化多端：教师端 3 页 / 学生端 3 页 / 管理员后台 / 登录；ECharts 图谱、流式对话、深浅主题、课程切换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78608"/>
            <a:ext cx="1481328" cy="786384"/>
          </a:xfrm>
          <a:prstGeom prst="roundRect">
            <a:avLst>
              <a:gd name="adj" fmla="val 8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578608"/>
            <a:ext cx="148132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接口层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578608"/>
            <a:ext cx="9430207" cy="786384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2651760"/>
            <a:ext cx="9046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20+ REST 端点（上传/图谱/知识/关系/问答/掌握/路径 + 管理/密钥/模型/健康）；NextAuth 角色守卫区分 401/403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38144"/>
            <a:ext cx="1481328" cy="786384"/>
          </a:xfrm>
          <a:prstGeom prst="roundRect">
            <a:avLst>
              <a:gd name="adj" fmla="val 8000"/>
            </a:avLst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438144"/>
            <a:ext cx="148132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服务层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438144"/>
            <a:ext cx="9430207" cy="786384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3511296"/>
            <a:ext cx="9046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文档解析（PDF/TXT·GBK 回退）｜ 混合检索 RAG（bigram + 向量）｜ 路径图遍历 ｜ AI SDK 抽取 + 密钥池/多提供商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97680"/>
            <a:ext cx="1481328" cy="786384"/>
          </a:xfrm>
          <a:prstGeom prst="roundRect">
            <a:avLst>
              <a:gd name="adj" fmla="val 8000"/>
            </a:avLst>
          </a:prstGeom>
          <a:solidFill>
            <a:srgbClr val="0F9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297680"/>
            <a:ext cx="1481328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存储层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297680"/>
            <a:ext cx="9430207" cy="786384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5728" y="4370832"/>
            <a:ext cx="9046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GraphStore 统一接口：Neo4j(Cypher) 与 JSON 双实现按连通性自动降级；向量索引与语料按课程隔离存储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48656"/>
            <a:ext cx="11057839" cy="822960"/>
          </a:xfrm>
          <a:prstGeom prst="roundRect">
            <a:avLst>
              <a:gd name="adj" fmla="val 6000"/>
            </a:avLst>
          </a:prstGeom>
          <a:solidFill>
            <a:srgbClr val="EEF0FB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321808"/>
            <a:ext cx="1058235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30" b="1">
                <a:solidFill>
                  <a:srgbClr val="2C3138"/>
                </a:solidFill>
                <a:latin typeface="微软雅黑"/>
                <a:ea typeface="微软雅黑"/>
              </a:rPr>
              <a:t>关键约束：</a:t>
            </a: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业务层只依赖 GraphStore / RAG 接口，不感知底层实现——评审机没有 Neo4j 自动降级 JSON、没有向量库自动回退关键词，</a:t>
            </a:r>
          </a:p>
          <a:p>
            <a:pPr algn="l">
              <a:lnSpc>
                <a:spcPct val="128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配置到位后无缝切换真实图数据库与向量检索，代码零改动。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教师端：上传即建图，抽取结果可修正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覆盖“解析→抽取→入图→手动修正”，并支持教师自助接入自定义大模型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05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5391759" cy="44805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自动建图流水线（上传 → 图谱）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5025999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1. 选课程上传 PDF/TXT：白名单 + 魔数校验，≤20MB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2. 解析：PDF 走 pdf-parse；TXT 优先 UTF-8，乱码自动回退 GBK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3. 清洗页码页眉 → 章节标题感知切块（不拆语义段落）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4. 分批抽取：块数上限 6、并发 3、单块失败跳过不中断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5. zod schema 强约束输出信封，名称归一化去重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6. 关系三重清洗：类型白名单 → 端点校验 → 去自环去重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7. 单事务批量建图，返回知识点/关系/文本块数量与耗时分解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19072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手动修正（图谱实时联动）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286000"/>
            <a:ext cx="5025999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知识点增删改（删除级联清理关联关系）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关系增删，类型限定 前置 / 包含 / 相关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编辑即刻反映到 ECharts 预览，全量列表管理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50792"/>
            <a:ext cx="5391759" cy="21488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419709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18795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自定义模型接入（加分）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4617720"/>
            <a:ext cx="5025999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五种协议：OpenAI 兼容(Chat/Responses)、Anthropic、Gemini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可填自定义 BaseURL/Key，拉取模型列表、一键测连通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保存后免重启即时生效；内网/非法地址被 SSRF 防护拦截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学生端：浏览 · 勾选 · 被推荐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以“学生 × 课程”维度的掌握状态驱动可解释的个性化学习导航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06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3515258" cy="26517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3186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图谱浏览与详情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314949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ECharts 力导向：缩放/拖拽；三类关系分色 + 中文边标签；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节点大小映射难度，文字内嵌提升可读；点击节点弹出定义/章节/难度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719072"/>
            <a:ext cx="3515258" cy="26517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821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098" y="1856232"/>
            <a:ext cx="3186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掌握勾选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2286000"/>
            <a:ext cx="314949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按章节分组的知识点清单；勾选“已掌握”即持久化；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多课程独立进度互不干扰，按 学生×课程 隔离存储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1719072"/>
            <a:ext cx="3515258" cy="26517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950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2388" y="1856232"/>
            <a:ext cx="318607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路径推荐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286000"/>
            <a:ext cx="314949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仅推荐“前置已全部掌握”的知识点；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解锁价值 / 难度 / 章节三重排序，每条附推荐理由；勾选后即时刷新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08576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EF0FB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754880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5E6AD2"/>
                </a:solidFill>
                <a:latin typeface="微软雅黑"/>
                <a:ea typeface="微软雅黑"/>
              </a:rPr>
              <a:t>设计要点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C3138"/>
                </a:solidFill>
                <a:latin typeface="微软雅黑"/>
                <a:ea typeface="微软雅黑"/>
              </a:rPr>
              <a:t>推荐算法为纯函数（O(V+E) 图遍历），行为被单元测试精确固定；“学一个 → 勾一个 → 推荐立即更新”形成学习闭环，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C3138"/>
                </a:solidFill>
                <a:latin typeface="微软雅黑"/>
                <a:ea typeface="微软雅黑"/>
              </a:rPr>
              <a:t>完全契合赛题“允许简单图遍历、不要求复杂机器学习模型”的定位。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智能问答：混合检索 + 引用先行的流式生成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bigram 关键词 与 embedding 向量 融合打分，任一环节不可用自动回退关键词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07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学生提问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课程语料内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62032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混合检索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关键词 + 向量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29744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02352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打分融合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权重可配·回退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97456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70064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流式生成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只依据教材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65168" y="2075688"/>
            <a:ext cx="256032" cy="201168"/>
          </a:xfrm>
          <a:prstGeom prst="rightArrow">
            <a:avLst/>
          </a:prstGeom>
          <a:solidFill>
            <a:srgbClr val="8E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37776" y="1719072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1828800"/>
            <a:ext cx="1975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引用标注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194560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D5DAFF"/>
                </a:solidFill>
                <a:latin typeface="微软雅黑"/>
                <a:ea typeface="微软雅黑"/>
              </a:rPr>
              <a:t>章节 + 片段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889504"/>
            <a:ext cx="5391759" cy="29718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035808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026664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混合检索（中文友好，零外部向量库）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5025999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中文相邻双字 bigram + 英文单词，命中计 1+ln(词频)，章节名加成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配置嵌入模型后叠加余弦向量分，按权重(默认 0.5)与关键词分融合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某块缺向量或嵌入失败 → 该块仅按关键词排序，不被惩罚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全部零分仍回退 Top4，保证模型能对“教材未涉及”作答而非乱引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2889504"/>
            <a:ext cx="5391759" cy="29718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007" y="3035808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5887" y="3026664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防幻觉与可溯源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3456432"/>
            <a:ext cx="5025999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系统提示词强约束：只依据教材回答，未涉及则明确拒答并标注章节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“参考章节”引用部件先于正文返回，徽标即刻出现、正文流式呈现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引用片段可展开核对教材原文；感知延迟低（实测首响 0.53–0.98s）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无 Key 或调用失败自动降级离线摘录式回答，问答功能永不中断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角色化前端与管理员后台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三角色向下兼容（admin ⊇ teacher ⊇ student），权限、密钥、数据统一管理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08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角色与权限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学生只见学生端；教师见教师端+学生端；管理员另含后台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Auth.js v5 JWT 会话，scrypt 口令哈希播种账号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proxy 中间件 + 路由内 requireTeacher/requireAdmin 双层校验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1907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API 密钥池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28600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维护多套 provider/Key/模型（含嵌入模型），一键设为生效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生效优先级 profile &gt; runtime &gt; env，掩码回显绝不下发明文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生效密钥带 embedModel 即自动启用 RAG 向量检索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1363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5993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05079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图数据维护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课程列表、级联删除（图 + 语料 + 向量 + 注册表）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用户管理：增删账号、重置口令，禁删最后一个管理员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一键重种内置《数据结构》演示数据，清理 e2e 污染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91363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405993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405079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安全与合规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448056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BaseURL 协议/内网白名单、Cypher 标识符白名单、文件魔数校验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接口限流；密钥仅存服务端，.env 与运行时配置均 gitignore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完整安全审计报告与密钥掩码策略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技术亮点：四个“评审友好”的工程决策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零配置可跑通 · 行为确定可测试 · 结果可溯源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09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双引擎图存储自动降级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GraphStore 统一抽象，Neo4j 与 JSON 双实现；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auto 探测连通性失败即降级，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业务层零感知、服务不中断。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1907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混合向量 RAG + 回退保障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28600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bigram 关键词 + embedding 向量加权融合；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缺向量/嵌入失败/全零分逐层回退，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检索链路永不因依赖缺失而中断。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1363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5993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05079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引用先行流式问答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8056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参考章节与引用片段先于正文到达前端，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可溯源、抗幻觉；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流式输出显著降低感知延迟。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913632"/>
            <a:ext cx="5391759" cy="2048256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405993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405079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离线演示 + 一键启动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4480560"/>
            <a:ext cx="502599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无 Key 走内置演示集全流程可演示；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start.ps1 自检环境→装依赖→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健康检查→开浏览器，docker 模式一键起。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关键成效：真实 DeepSeek 在线实测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以《数据结构》自编教材全量核对，非离线推定（详见准确率测试报告）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10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19072"/>
            <a:ext cx="2599867" cy="82296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5E6AD2"/>
                </a:solidFill>
                <a:latin typeface="微软雅黑"/>
                <a:ea typeface="微软雅黑"/>
              </a:rPr>
              <a:t>90.3</a:t>
            </a:r>
            <a:r>
              <a:rPr sz="1400" b="1">
                <a:solidFill>
                  <a:srgbClr val="5E6AD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33472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实体准确率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35808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严格 65/72·零幻觉 72/72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6251" y="1719072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6251" y="1719072"/>
            <a:ext cx="2599867" cy="82296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2555" y="1938528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5E6AD2"/>
                </a:solidFill>
                <a:latin typeface="微软雅黑"/>
                <a:ea typeface="微软雅黑"/>
              </a:rPr>
              <a:t>84.6</a:t>
            </a:r>
            <a:r>
              <a:rPr sz="1400" b="1">
                <a:solidFill>
                  <a:srgbClr val="5E6AD2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2555" y="2633472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关系准确率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2555" y="3035808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严格 88/104·语义可接受≈100%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1719072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1719072"/>
            <a:ext cx="2599867" cy="82296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1879" y="1938528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7170FF"/>
                </a:solidFill>
                <a:latin typeface="微软雅黑"/>
                <a:ea typeface="微软雅黑"/>
              </a:rPr>
              <a:t>12.1</a:t>
            </a:r>
            <a:r>
              <a:rPr sz="1400" b="1">
                <a:solidFill>
                  <a:srgbClr val="7170FF"/>
                </a:solidFill>
                <a:latin typeface="微软雅黑"/>
                <a:ea typeface="微软雅黑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9" y="2633472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解析+抽取耗时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3035808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预算 60s·知识点5.5s+关系6.6s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4899" y="1719072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4899" y="1719072"/>
            <a:ext cx="2599867" cy="82296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203" y="1938528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7170FF"/>
                </a:solidFill>
                <a:latin typeface="微软雅黑"/>
                <a:ea typeface="微软雅黑"/>
              </a:rPr>
              <a:t>0.53</a:t>
            </a:r>
            <a:r>
              <a:rPr sz="1400" b="1">
                <a:solidFill>
                  <a:srgbClr val="7170FF"/>
                </a:solidFill>
                <a:latin typeface="微软雅黑"/>
                <a:ea typeface="微软雅黑"/>
              </a:rPr>
              <a:t>–0.98s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203" y="2633472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问答单次响应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203" y="3035808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预算 15s·8/8 含 2 题正确拒答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968495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968495"/>
            <a:ext cx="2599867" cy="82296"/>
          </a:xfrm>
          <a:prstGeom prst="rect">
            <a:avLst/>
          </a:prstGeom>
          <a:solidFill>
            <a:srgbClr val="0F9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187951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0F9D5E"/>
                </a:solidFill>
                <a:latin typeface="微软雅黑"/>
                <a:ea typeface="微软雅黑"/>
              </a:rPr>
              <a:t>72</a:t>
            </a:r>
            <a:r>
              <a:rPr sz="1400" b="1">
                <a:solidFill>
                  <a:srgbClr val="0F9D5E"/>
                </a:solidFill>
                <a:latin typeface="微软雅黑"/>
                <a:ea typeface="微软雅黑"/>
              </a:rPr>
              <a:t>·104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882895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知识点 / 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285231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三类齐全 45/42/17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6251" y="3968495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86251" y="3968495"/>
            <a:ext cx="2599867" cy="82296"/>
          </a:xfrm>
          <a:prstGeom prst="rect">
            <a:avLst/>
          </a:prstGeom>
          <a:solidFill>
            <a:srgbClr val="0F9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2555" y="4187951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0F9D5E"/>
                </a:solidFill>
                <a:latin typeface="微软雅黑"/>
                <a:ea typeface="微软雅黑"/>
              </a:rPr>
              <a:t>17</a:t>
            </a:r>
            <a:r>
              <a:rPr sz="1400" b="1">
                <a:solidFill>
                  <a:srgbClr val="0F9D5E"/>
                </a:solidFill>
                <a:latin typeface="微软雅黑"/>
                <a:ea typeface="微软雅黑"/>
              </a:rPr>
              <a:t>/17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2555" y="4882895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前置关系方向全对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2555" y="5285231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端点编号+方向语义约束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05575" y="3968495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5575" y="3968495"/>
            <a:ext cx="2599867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1879" y="4187951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B45309"/>
                </a:solidFill>
                <a:latin typeface="微软雅黑"/>
                <a:ea typeface="微软雅黑"/>
              </a:rPr>
              <a:t>9.7</a:t>
            </a:r>
            <a:r>
              <a:rPr sz="1400" b="1">
                <a:solidFill>
                  <a:srgbClr val="B45309"/>
                </a:solidFill>
                <a:latin typeface="微软雅黑"/>
                <a:ea typeface="微软雅黑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1879" y="4882895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冗余率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1879" y="5285231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7/72 过细条目·低于阈值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24899" y="3968495"/>
            <a:ext cx="259986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4899" y="3968495"/>
            <a:ext cx="2599867" cy="82296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1203" y="4187951"/>
            <a:ext cx="23072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300" b="1">
                <a:solidFill>
                  <a:srgbClr val="5E6AD2"/>
                </a:solidFill>
                <a:latin typeface="微软雅黑"/>
                <a:ea typeface="微软雅黑"/>
              </a:rPr>
              <a:t>72</a:t>
            </a:r>
            <a:r>
              <a:rPr sz="1400" b="1">
                <a:solidFill>
                  <a:srgbClr val="5E6AD2"/>
                </a:solidFill>
                <a:latin typeface="微软雅黑"/>
                <a:ea typeface="微软雅黑"/>
              </a:rPr>
              <a:t>/72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1203" y="4882895"/>
            <a:ext cx="230725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B1F24"/>
                </a:solidFill>
                <a:latin typeface="微软雅黑"/>
                <a:ea typeface="微软雅黑"/>
              </a:rPr>
              <a:t>零幻觉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203" y="5285231"/>
            <a:ext cx="230725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6B7280"/>
                </a:solidFill>
                <a:latin typeface="微软雅黑"/>
                <a:ea typeface="微软雅黑"/>
              </a:rPr>
              <a:t>每条均可在教材原文定位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16305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口径说明：单次全文抽取得 72 点远超“一章 ≥20”，按章均摊偏低源于示例教材每章篇幅被刻意压缩；真实完整章节单章即达 20+。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工程与质量：测试驱动 + 持续集成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行为由测试固化，质量门禁在 CI 强制执行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11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3515258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19072"/>
            <a:ext cx="3515258" cy="82296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75104"/>
            <a:ext cx="351525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6AD2"/>
                </a:solidFill>
                <a:latin typeface="微软雅黑"/>
                <a:ea typeface="微软雅黑"/>
              </a:rPr>
              <a:t>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43200"/>
            <a:ext cx="351525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B1F24"/>
                </a:solidFill>
                <a:latin typeface="微软雅黑"/>
                <a:ea typeface="微软雅黑"/>
              </a:rPr>
              <a:t>单元测试全绿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182112"/>
            <a:ext cx="31494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13 个测试文件：解析/清洗/编码、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混合检索/向量/回退、路径推荐、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密钥池/角色/用户服务/契约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719072"/>
            <a:ext cx="3515258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719072"/>
            <a:ext cx="3515258" cy="82296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8218" y="1975104"/>
            <a:ext cx="351525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6AD2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218" y="2743200"/>
            <a:ext cx="351525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B1F24"/>
                </a:solidFill>
                <a:latin typeface="微软雅黑"/>
                <a:ea typeface="微软雅黑"/>
              </a:rPr>
              <a:t>端到端场景全绿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098" y="3182112"/>
            <a:ext cx="31494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Playwright 离线驱动真实浏览器：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建图→浏览→勾选→推荐→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问答引用→教师修正→多课程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9508" y="1719072"/>
            <a:ext cx="3515258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9508" y="1719072"/>
            <a:ext cx="3515258" cy="82296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9508" y="1975104"/>
            <a:ext cx="351525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5E6AD2"/>
                </a:solidFill>
                <a:latin typeface="微软雅黑"/>
                <a:ea typeface="微软雅黑"/>
              </a:rPr>
              <a:t>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9508" y="2743200"/>
            <a:ext cx="351525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B1F24"/>
                </a:solidFill>
                <a:latin typeface="微软雅黑"/>
                <a:ea typeface="微软雅黑"/>
              </a:rPr>
              <a:t>覆盖率强制门禁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2388" y="3182112"/>
            <a:ext cx="314949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CI 对 services/lib 强制 vitest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覆盖率阈值；typecheck✓ build✓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无障碍 Lighthouse 5 页 100 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53712"/>
            <a:ext cx="11057839" cy="1463040"/>
          </a:xfrm>
          <a:prstGeom prst="roundRect">
            <a:avLst>
              <a:gd name="adj" fmla="val 6000"/>
            </a:avLst>
          </a:prstGeom>
          <a:solidFill>
            <a:srgbClr val="EEF0FB"/>
          </a:solidFill>
          <a:ln w="12700">
            <a:solidFill>
              <a:srgbClr val="C9C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700016"/>
            <a:ext cx="1050919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>
                <a:solidFill>
                  <a:srgbClr val="5E6AD2"/>
                </a:solidFill>
                <a:latin typeface="微软雅黑"/>
                <a:ea typeface="微软雅黑"/>
              </a:rPr>
              <a:t>测试发现并修复的真实缺陷（纯离线演示无法暴露）</a:t>
            </a:r>
          </a:p>
          <a:p>
            <a:pPr algn="l">
              <a:lnSpc>
                <a:spcPct val="132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① 真实 DeepSeek 下 json_object 模式返回裸数组致抽取 0 条 → 提示词显式声明输出信封；</a:t>
            </a:r>
          </a:p>
          <a:p>
            <a:pPr algn="l">
              <a:lnSpc>
                <a:spcPct val="132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② useChat 不响应 transport 更换致流式失效；③ bigram 未先剔除英文串致中文错位漏召回。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赛题指标达成对照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全部结论可复核：以真实大模型在线实测数据为准（非离线推定）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12 /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19072"/>
          <a:ext cx="1105783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211519"/>
                <a:gridCol w="1645920"/>
              </a:tblGrid>
              <a:tr h="44805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赛题要求</a:t>
                      </a:r>
                    </a:p>
                  </a:txBody>
                  <a:tcPr anchor="ctr">
                    <a:solidFill>
                      <a:srgbClr val="16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实现情况（实测）</a:t>
                      </a:r>
                    </a:p>
                  </a:txBody>
                  <a:tcPr anchor="ctr">
                    <a:solidFill>
                      <a:srgbClr val="16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161B3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文档格式（四种选二）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PDF + TXT；白名单 + 魔数校验 + GBK 自动回退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一章内容 ≥20 个知识点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在线抽取 72 个（第 1–6 章）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≥3 种关系类型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CONTAINS 45 / RELATED 42 / PREREQUISITE 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抽取准确率 ≥70%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实体 90.3% · 关系 84.6%（真实 DeepSeek）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图谱交互 + 卡片列表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缩放/拖拽/点击详情；详情卡 + 按章节清单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问答≤15s / 建图≤60s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问答 0.53–0.98s · 抽取 12.1s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教师端 + 学生端 + 多课程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角色化多端 + courseId 全链路隔离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可解释路径推荐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前置图遍历 + 三重排序 + 逐条理由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5F7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4"/>
                          </a:solidFill>
                          <a:latin typeface="微软雅黑"/>
                          <a:ea typeface="微软雅黑"/>
                        </a:rPr>
                        <a:t>自定义模型接入（加分）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C3138"/>
                          </a:solidFill>
                          <a:latin typeface="微软雅黑"/>
                          <a:ea typeface="微软雅黑"/>
                        </a:rPr>
                        <a:t>五种协议 · 密钥池热生效 · SSRF 防护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9D5E"/>
                          </a:solidFill>
                          <a:latin typeface="微软雅黑"/>
                          <a:ea typeface="微软雅黑"/>
                        </a:rPr>
                        <a:t>● 达成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73152" cy="23774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5486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spc="60">
                <a:solidFill>
                  <a:srgbClr val="5E6AD2"/>
                </a:solidFill>
                <a:latin typeface="微软雅黑"/>
                <a:ea typeface="微软雅黑"/>
              </a:rPr>
              <a:t>A10 · 浙师大服务外包大赛 · 金扬智能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20">
                <a:solidFill>
                  <a:srgbClr val="1B1F24"/>
                </a:solidFill>
                <a:latin typeface="微软雅黑"/>
                <a:ea typeface="微软雅黑"/>
              </a:rPr>
              <a:t>已知限制与改进路线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如实披露边界，迭代方向清晰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1524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19088"/>
            <a:ext cx="11057839" cy="10160"/>
          </a:xfrm>
          <a:prstGeom prst="rect">
            <a:avLst/>
          </a:prstGeom>
          <a:solidFill>
            <a:srgbClr val="E6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1AC"/>
                </a:solidFill>
                <a:latin typeface="微软雅黑"/>
                <a:ea typeface="微软雅黑"/>
              </a:rPr>
              <a:t>基于 AIGC 的课程知识图谱智能构建与学习导航系统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6B7280"/>
                </a:solidFill>
                <a:latin typeface="微软雅黑"/>
                <a:ea typeface="微软雅黑"/>
              </a:rPr>
              <a:t>13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5391759" cy="43434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已知限制（诚实清单）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5025999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仅支持 PDF/TXT（赛题“四种选二”已达标），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  DOCX / Markdown 解析器待扩展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CONTAINS 存在类型偏松（16/104 泛化），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  为关系准确率主要失分点，语义仍可接受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知识点消歧为词面级去重；向量已用于 RAG 召回，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  名称语义级同义合并仍未落地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路径推荐为编号列表，图形化学习链待做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• 在线准确率基于浓缩自编示例，真实整章篇幅更长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719072"/>
            <a:ext cx="5391759" cy="43434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865376"/>
            <a:ext cx="50292" cy="274320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856232"/>
            <a:ext cx="5062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B1F24"/>
                </a:solidFill>
                <a:latin typeface="微软雅黑"/>
                <a:ea typeface="微软雅黑"/>
              </a:rPr>
              <a:t>改进路线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286000"/>
            <a:ext cx="5025999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两阶段关系抽取：先召回候选对再判定类型与方向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章节级停用词与“了解/掌握”课程目标句过滤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embedding 辅助长尾概念合并 + 人工确认队列，</a:t>
            </a:r>
          </a:p>
          <a:p>
            <a:pPr algn="l">
              <a:lnSpc>
                <a:spcPct val="120000"/>
              </a:lnSpc>
            </a:pPr>
            <a:r>
              <a:rPr sz="1230" b="0">
                <a:solidFill>
                  <a:srgbClr val="2C3138"/>
                </a:solidFill>
                <a:latin typeface="微软雅黑"/>
                <a:ea typeface="微软雅黑"/>
              </a:rPr>
              <a:t>  实现语义级知识融合（赛题鼓励方向）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DOCX(mammoth)/Markdown 解析器接入，仅扩白名单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上传改造为异步任务（任务 id + 进度轮询）</a:t>
            </a:r>
          </a:p>
          <a:p>
            <a:pPr algn="l">
              <a:lnSpc>
                <a:spcPct val="120000"/>
              </a:lnSpc>
            </a:pPr>
            <a:r>
              <a:rPr sz="1230" b="1">
                <a:solidFill>
                  <a:srgbClr val="1B1F24"/>
                </a:solidFill>
                <a:latin typeface="微软雅黑"/>
                <a:ea typeface="微软雅黑"/>
              </a:rPr>
              <a:t>• 推荐结果以 ECharts 树图呈现学习链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6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71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spc="20">
                <a:solidFill>
                  <a:srgbClr val="FFFFFF"/>
                </a:solidFill>
                <a:latin typeface="微软雅黑"/>
                <a:ea typeface="微软雅黑"/>
              </a:rPr>
              <a:t>把建图谱的门槛降到“上传一个文件”，</a:t>
            </a:r>
          </a:p>
          <a:p>
            <a:pPr algn="l">
              <a:lnSpc>
                <a:spcPct val="125000"/>
              </a:lnSpc>
            </a:pPr>
            <a:r>
              <a:rPr sz="2400" b="1" spc="20">
                <a:solidFill>
                  <a:srgbClr val="FFFFFF"/>
                </a:solidFill>
                <a:latin typeface="微软雅黑"/>
                <a:ea typeface="微软雅黑"/>
              </a:rPr>
              <a:t>把学习的主动权交给“每一步都有依据”的学生。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697480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697480"/>
            <a:ext cx="64008" cy="128016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88036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E6AD2"/>
                </a:solidFill>
                <a:latin typeface="微软雅黑"/>
                <a:ea typeface="微软雅黑"/>
              </a:rPr>
              <a:t>一键启动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10128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C3138"/>
                </a:solidFill>
                <a:latin typeface="微软雅黑"/>
                <a:ea typeface="微软雅黑"/>
              </a:rPr>
              <a:t>start.ps1 / start.bat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2697480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4794" y="2697480"/>
            <a:ext cx="64008" cy="128016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288036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E6AD2"/>
                </a:solidFill>
                <a:latin typeface="微软雅黑"/>
                <a:ea typeface="微软雅黑"/>
              </a:rPr>
              <a:t>零配置评审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3310128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C3138"/>
                </a:solidFill>
                <a:latin typeface="微软雅黑"/>
                <a:ea typeface="微软雅黑"/>
              </a:rPr>
              <a:t>离线演示 + JSON 存储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2660" y="2697480"/>
            <a:ext cx="3442106" cy="128016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2660" y="2697480"/>
            <a:ext cx="64008" cy="128016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0404" y="288036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5E6AD2"/>
                </a:solidFill>
                <a:latin typeface="微软雅黑"/>
                <a:ea typeface="微软雅黑"/>
              </a:rPr>
              <a:t>按需升级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404" y="3310128"/>
            <a:ext cx="30580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C3138"/>
                </a:solidFill>
                <a:latin typeface="微软雅黑"/>
                <a:ea typeface="微软雅黑"/>
              </a:rPr>
              <a:t>填 Key / 启 Neo4j 无缝切换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C3138"/>
                </a:solidFill>
                <a:latin typeface="微软雅黑"/>
                <a:ea typeface="微软雅黑"/>
              </a:rPr>
              <a:t>普通电脑即可部署：无 GPU 依赖、无 Neo4j、无 API Key 也能跑通全流程；配置到位后自动切换在线与生产图数据库。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7280"/>
                </a:solidFill>
                <a:latin typeface="微软雅黑"/>
                <a:ea typeface="微软雅黑"/>
              </a:rPr>
              <a:t>赛题全部强制指标已达成，并以真实 DeepSeek 在线实测数据支撑；材料含需求分析(SRS)、架构设计、准确率报告、安全审计、e2e 与单测。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12700"/>
          </a:xfrm>
          <a:prstGeom prst="rect">
            <a:avLst/>
          </a:prstGeom>
          <a:solidFill>
            <a:srgbClr val="C9C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5216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1B1F24"/>
                </a:solidFill>
                <a:latin typeface="微软雅黑"/>
                <a:ea typeface="微软雅黑"/>
              </a:rPr>
              <a:t>谢谢观看</a:t>
            </a:r>
            <a:r>
              <a:rPr sz="1300" b="1">
                <a:solidFill>
                  <a:srgbClr val="2C3138"/>
                </a:solidFill>
                <a:latin typeface="微软雅黑"/>
                <a:ea typeface="微软雅黑"/>
              </a:rPr>
              <a:t>     参赛团队  EterU</a:t>
            </a:r>
            <a:r>
              <a:rPr sz="1300" b="1">
                <a:solidFill>
                  <a:srgbClr val="2C3138"/>
                </a:solidFill>
                <a:latin typeface="微软雅黑"/>
                <a:ea typeface="微软雅黑"/>
              </a:rPr>
              <a:t>     指导老师  袁汉春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EterU 小队 · 浙江师范大学第九届服务外包大赛 · 赛题 A10【杭州金扬智能科技有限公司】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