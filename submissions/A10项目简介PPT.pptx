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86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Rectangle 2"/>
          <p:cNvSpPr/>
          <p:nvPr/>
        </p:nvSpPr>
        <p:spPr>
          <a:xfrm>
            <a:off x="0" y="2286000"/>
            <a:ext cx="12191695" cy="54864"/>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4" name="TextBox 3"/>
          <p:cNvSpPr txBox="1"/>
          <p:nvPr/>
        </p:nvSpPr>
        <p:spPr>
          <a:xfrm>
            <a:off x="822960" y="566928"/>
            <a:ext cx="10515600" cy="1188720"/>
          </a:xfrm>
          <a:prstGeom prst="rect">
            <a:avLst/>
          </a:prstGeom>
          <a:noFill/>
        </p:spPr>
        <p:txBody>
          <a:bodyPr wrap="square" anchor="t" lIns="0" rIns="0" tIns="0" bIns="0">
            <a:spAutoFit/>
          </a:bodyPr>
          <a:lstStyle/>
          <a:p>
            <a:pPr algn="l">
              <a:lnSpc>
                <a:spcPct val="110000"/>
              </a:lnSpc>
            </a:pPr>
            <a:r>
              <a:rPr sz="4000" b="1">
                <a:solidFill>
                  <a:srgbClr val="FFFFFF"/>
                </a:solidFill>
                <a:latin typeface="微软雅黑"/>
                <a:ea typeface="微软雅黑"/>
              </a:rPr>
              <a:t>基于 AIGC 的课程知识图谱</a:t>
            </a:r>
          </a:p>
          <a:p>
            <a:pPr algn="l">
              <a:lnSpc>
                <a:spcPct val="110000"/>
              </a:lnSpc>
            </a:pPr>
            <a:r>
              <a:rPr sz="4000" b="1">
                <a:solidFill>
                  <a:srgbClr val="FFFFFF"/>
                </a:solidFill>
                <a:latin typeface="微软雅黑"/>
                <a:ea typeface="微软雅黑"/>
              </a:rPr>
              <a:t>智能构建与学习导航系统</a:t>
            </a:r>
          </a:p>
        </p:txBody>
      </p:sp>
      <p:sp>
        <p:nvSpPr>
          <p:cNvPr id="5" name="TextBox 4"/>
          <p:cNvSpPr txBox="1"/>
          <p:nvPr/>
        </p:nvSpPr>
        <p:spPr>
          <a:xfrm>
            <a:off x="822960" y="2743200"/>
            <a:ext cx="10515600" cy="822960"/>
          </a:xfrm>
          <a:prstGeom prst="rect">
            <a:avLst/>
          </a:prstGeom>
          <a:noFill/>
        </p:spPr>
        <p:txBody>
          <a:bodyPr wrap="square" anchor="t" lIns="0" rIns="0" tIns="0" bIns="0">
            <a:spAutoFit/>
          </a:bodyPr>
          <a:lstStyle/>
          <a:p>
            <a:pPr algn="l">
              <a:lnSpc>
                <a:spcPct val="130000"/>
              </a:lnSpc>
            </a:pPr>
            <a:r>
              <a:rPr sz="1800" b="0">
                <a:solidFill>
                  <a:srgbClr val="595959"/>
                </a:solidFill>
                <a:latin typeface="微软雅黑"/>
                <a:ea typeface="微软雅黑"/>
              </a:rPr>
              <a:t>上传课程资料，自动生成可交互的知识图谱；</a:t>
            </a:r>
          </a:p>
          <a:p>
            <a:pPr algn="l">
              <a:lnSpc>
                <a:spcPct val="130000"/>
              </a:lnSpc>
            </a:pPr>
            <a:r>
              <a:rPr sz="1800" b="0">
                <a:solidFill>
                  <a:srgbClr val="595959"/>
                </a:solidFill>
                <a:latin typeface="微软雅黑"/>
                <a:ea typeface="微软雅黑"/>
              </a:rPr>
              <a:t>勾选已掌握知识点，获得可解释的个性化学习路径。</a:t>
            </a:r>
          </a:p>
        </p:txBody>
      </p:sp>
      <p:sp>
        <p:nvSpPr>
          <p:cNvPr id="6" name="Rounded Rectangle 5"/>
          <p:cNvSpPr/>
          <p:nvPr/>
        </p:nvSpPr>
        <p:spPr>
          <a:xfrm>
            <a:off x="822960" y="3977639"/>
            <a:ext cx="3291840" cy="10515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7" name="TextBox 6"/>
          <p:cNvSpPr txBox="1"/>
          <p:nvPr/>
        </p:nvSpPr>
        <p:spPr>
          <a:xfrm>
            <a:off x="1005840" y="4114800"/>
            <a:ext cx="2926080" cy="365760"/>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教师端</a:t>
            </a:r>
          </a:p>
        </p:txBody>
      </p:sp>
      <p:sp>
        <p:nvSpPr>
          <p:cNvPr id="8" name="TextBox 7"/>
          <p:cNvSpPr txBox="1"/>
          <p:nvPr/>
        </p:nvSpPr>
        <p:spPr>
          <a:xfrm>
            <a:off x="1005840" y="4498848"/>
            <a:ext cx="2926080" cy="411480"/>
          </a:xfrm>
          <a:prstGeom prst="rect">
            <a:avLst/>
          </a:prstGeom>
          <a:noFill/>
        </p:spPr>
        <p:txBody>
          <a:bodyPr wrap="square" anchor="t" lIns="0" rIns="0" tIns="0" bIns="0">
            <a:spAutoFit/>
          </a:bodyPr>
          <a:lstStyle/>
          <a:p>
            <a:pPr algn="l">
              <a:lnSpc>
                <a:spcPct val="112000"/>
              </a:lnSpc>
            </a:pPr>
            <a:r>
              <a:rPr sz="1200" b="0">
                <a:solidFill>
                  <a:srgbClr val="595959"/>
                </a:solidFill>
                <a:latin typeface="微软雅黑"/>
                <a:ea typeface="微软雅黑"/>
              </a:rPr>
              <a:t>上传即建图 · 手动可修正</a:t>
            </a:r>
          </a:p>
        </p:txBody>
      </p:sp>
      <p:sp>
        <p:nvSpPr>
          <p:cNvPr id="9" name="Rounded Rectangle 8"/>
          <p:cNvSpPr/>
          <p:nvPr/>
        </p:nvSpPr>
        <p:spPr>
          <a:xfrm>
            <a:off x="4480560" y="3977639"/>
            <a:ext cx="3291840" cy="10515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0" name="TextBox 9"/>
          <p:cNvSpPr txBox="1"/>
          <p:nvPr/>
        </p:nvSpPr>
        <p:spPr>
          <a:xfrm>
            <a:off x="4663440" y="4114800"/>
            <a:ext cx="2926080" cy="365760"/>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学生端</a:t>
            </a:r>
          </a:p>
        </p:txBody>
      </p:sp>
      <p:sp>
        <p:nvSpPr>
          <p:cNvPr id="11" name="TextBox 10"/>
          <p:cNvSpPr txBox="1"/>
          <p:nvPr/>
        </p:nvSpPr>
        <p:spPr>
          <a:xfrm>
            <a:off x="4663440" y="4498848"/>
            <a:ext cx="2926080" cy="411480"/>
          </a:xfrm>
          <a:prstGeom prst="rect">
            <a:avLst/>
          </a:prstGeom>
          <a:noFill/>
        </p:spPr>
        <p:txBody>
          <a:bodyPr wrap="square" anchor="t" lIns="0" rIns="0" tIns="0" bIns="0">
            <a:spAutoFit/>
          </a:bodyPr>
          <a:lstStyle/>
          <a:p>
            <a:pPr algn="l">
              <a:lnSpc>
                <a:spcPct val="112000"/>
              </a:lnSpc>
            </a:pPr>
            <a:r>
              <a:rPr sz="1200" b="0">
                <a:solidFill>
                  <a:srgbClr val="595959"/>
                </a:solidFill>
                <a:latin typeface="微软雅黑"/>
                <a:ea typeface="微软雅黑"/>
              </a:rPr>
              <a:t>图谱浏览 · 掌握勾选 · 路径推荐</a:t>
            </a:r>
          </a:p>
        </p:txBody>
      </p:sp>
      <p:sp>
        <p:nvSpPr>
          <p:cNvPr id="12" name="Rounded Rectangle 11"/>
          <p:cNvSpPr/>
          <p:nvPr/>
        </p:nvSpPr>
        <p:spPr>
          <a:xfrm>
            <a:off x="8138160" y="3977639"/>
            <a:ext cx="3291840" cy="10515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3" name="TextBox 12"/>
          <p:cNvSpPr txBox="1"/>
          <p:nvPr/>
        </p:nvSpPr>
        <p:spPr>
          <a:xfrm>
            <a:off x="8321040" y="4114800"/>
            <a:ext cx="2926080" cy="365760"/>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智能问答</a:t>
            </a:r>
          </a:p>
        </p:txBody>
      </p:sp>
      <p:sp>
        <p:nvSpPr>
          <p:cNvPr id="14" name="TextBox 13"/>
          <p:cNvSpPr txBox="1"/>
          <p:nvPr/>
        </p:nvSpPr>
        <p:spPr>
          <a:xfrm>
            <a:off x="8321040" y="4498848"/>
            <a:ext cx="2926080" cy="411480"/>
          </a:xfrm>
          <a:prstGeom prst="rect">
            <a:avLst/>
          </a:prstGeom>
          <a:noFill/>
        </p:spPr>
        <p:txBody>
          <a:bodyPr wrap="square" anchor="t" lIns="0" rIns="0" tIns="0" bIns="0">
            <a:spAutoFit/>
          </a:bodyPr>
          <a:lstStyle/>
          <a:p>
            <a:pPr algn="l">
              <a:lnSpc>
                <a:spcPct val="112000"/>
              </a:lnSpc>
            </a:pPr>
            <a:r>
              <a:rPr sz="1200" b="0">
                <a:solidFill>
                  <a:srgbClr val="595959"/>
                </a:solidFill>
                <a:latin typeface="微软雅黑"/>
                <a:ea typeface="微软雅黑"/>
              </a:rPr>
              <a:t>依据教材 · 引用可溯源 · 不编造</a:t>
            </a:r>
          </a:p>
        </p:txBody>
      </p:sp>
      <p:sp>
        <p:nvSpPr>
          <p:cNvPr id="15" name="TextBox 14"/>
          <p:cNvSpPr txBox="1"/>
          <p:nvPr/>
        </p:nvSpPr>
        <p:spPr>
          <a:xfrm>
            <a:off x="822960" y="5623560"/>
            <a:ext cx="10515600" cy="822960"/>
          </a:xfrm>
          <a:prstGeom prst="rect">
            <a:avLst/>
          </a:prstGeom>
          <a:noFill/>
        </p:spPr>
        <p:txBody>
          <a:bodyPr wrap="square" anchor="t" lIns="0" rIns="0" tIns="0" bIns="0">
            <a:spAutoFit/>
          </a:bodyPr>
          <a:lstStyle/>
          <a:p>
            <a:pPr algn="l">
              <a:lnSpc>
                <a:spcPct val="140000"/>
              </a:lnSpc>
            </a:pPr>
            <a:r>
              <a:rPr sz="1400" b="0">
                <a:solidFill>
                  <a:srgbClr val="595959"/>
                </a:solidFill>
                <a:latin typeface="微软雅黑"/>
                <a:ea typeface="微软雅黑"/>
              </a:rPr>
              <a:t>浙江师范大学服务外包大赛 A 类企业命题 A10 ｜ 命题企业：杭州金扬智能科技有限公司</a:t>
            </a:r>
          </a:p>
          <a:p>
            <a:pPr algn="l">
              <a:lnSpc>
                <a:spcPct val="140000"/>
              </a:lnSpc>
            </a:pPr>
            <a:r>
              <a:rPr sz="1300" b="0">
                <a:solidFill>
                  <a:srgbClr val="595959"/>
                </a:solidFill>
                <a:latin typeface="微软雅黑"/>
                <a:ea typeface="微软雅黑"/>
              </a:rPr>
              <a:t>参赛团队：【待填】　指导老师：【待填】　2026-09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背景与痛点</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为什么课程知识图谱“图很好、建图难”</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02</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640080" y="1417320"/>
            <a:ext cx="3429000" cy="19659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786384" y="1527048"/>
            <a:ext cx="3136392" cy="384048"/>
          </a:xfrm>
          <a:prstGeom prst="rect">
            <a:avLst/>
          </a:prstGeom>
          <a:noFill/>
        </p:spPr>
        <p:txBody>
          <a:bodyPr wrap="square" anchor="t" lIns="0" rIns="0" tIns="0" bIns="0">
            <a:spAutoFit/>
          </a:bodyPr>
          <a:lstStyle/>
          <a:p>
            <a:pPr algn="l">
              <a:lnSpc>
                <a:spcPct val="112000"/>
              </a:lnSpc>
            </a:pPr>
            <a:r>
              <a:rPr sz="1700" b="1">
                <a:solidFill>
                  <a:srgbClr val="1F4E79"/>
                </a:solidFill>
                <a:latin typeface="微软雅黑"/>
                <a:ea typeface="微软雅黑"/>
              </a:rPr>
              <a:t>知识孤岛</a:t>
            </a:r>
          </a:p>
        </p:txBody>
      </p:sp>
      <p:sp>
        <p:nvSpPr>
          <p:cNvPr id="9" name="TextBox 8"/>
          <p:cNvSpPr txBox="1"/>
          <p:nvPr/>
        </p:nvSpPr>
        <p:spPr>
          <a:xfrm>
            <a:off x="786384" y="1947672"/>
            <a:ext cx="3136392" cy="1325880"/>
          </a:xfrm>
          <a:prstGeom prst="rect">
            <a:avLst/>
          </a:prstGeom>
          <a:noFill/>
        </p:spPr>
        <p:txBody>
          <a:bodyPr wrap="square" anchor="t" lIns="0" rIns="0" tIns="0" bIns="0">
            <a:spAutoFit/>
          </a:bodyPr>
          <a:lstStyle/>
          <a:p>
            <a:pPr algn="l">
              <a:lnSpc>
                <a:spcPct val="115000"/>
              </a:lnSpc>
            </a:pPr>
            <a:r>
              <a:rPr sz="1400" b="0">
                <a:solidFill>
                  <a:srgbClr val="262626"/>
                </a:solidFill>
                <a:latin typeface="微软雅黑"/>
                <a:ea typeface="微软雅黑"/>
              </a:rPr>
              <a:t>课程内容散落在教材、课件、教案等</a:t>
            </a:r>
          </a:p>
          <a:p>
            <a:pPr algn="l">
              <a:lnSpc>
                <a:spcPct val="115000"/>
              </a:lnSpc>
            </a:pPr>
            <a:r>
              <a:rPr sz="1400" b="0">
                <a:solidFill>
                  <a:srgbClr val="262626"/>
                </a:solidFill>
                <a:latin typeface="微软雅黑"/>
                <a:ea typeface="微软雅黑"/>
              </a:rPr>
              <a:t>非结构化文档中，知识点分散、</a:t>
            </a:r>
          </a:p>
          <a:p>
            <a:pPr algn="l">
              <a:lnSpc>
                <a:spcPct val="115000"/>
              </a:lnSpc>
            </a:pPr>
            <a:r>
              <a:rPr sz="1400" b="0">
                <a:solidFill>
                  <a:srgbClr val="262626"/>
                </a:solidFill>
                <a:latin typeface="微软雅黑"/>
                <a:ea typeface="微软雅黑"/>
              </a:rPr>
              <a:t>缺乏显式关联，学生难见全局。</a:t>
            </a:r>
          </a:p>
        </p:txBody>
      </p:sp>
      <p:sp>
        <p:nvSpPr>
          <p:cNvPr id="10" name="Rounded Rectangle 9"/>
          <p:cNvSpPr/>
          <p:nvPr/>
        </p:nvSpPr>
        <p:spPr>
          <a:xfrm>
            <a:off x="4434840" y="1417320"/>
            <a:ext cx="3429000" cy="19659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4581144" y="1527048"/>
            <a:ext cx="3136392" cy="384048"/>
          </a:xfrm>
          <a:prstGeom prst="rect">
            <a:avLst/>
          </a:prstGeom>
          <a:noFill/>
        </p:spPr>
        <p:txBody>
          <a:bodyPr wrap="square" anchor="t" lIns="0" rIns="0" tIns="0" bIns="0">
            <a:spAutoFit/>
          </a:bodyPr>
          <a:lstStyle/>
          <a:p>
            <a:pPr algn="l">
              <a:lnSpc>
                <a:spcPct val="112000"/>
              </a:lnSpc>
            </a:pPr>
            <a:r>
              <a:rPr sz="1700" b="1">
                <a:solidFill>
                  <a:srgbClr val="1F4E79"/>
                </a:solidFill>
                <a:latin typeface="微软雅黑"/>
                <a:ea typeface="微软雅黑"/>
              </a:rPr>
              <a:t>学习易迷路</a:t>
            </a:r>
          </a:p>
        </p:txBody>
      </p:sp>
      <p:sp>
        <p:nvSpPr>
          <p:cNvPr id="12" name="TextBox 11"/>
          <p:cNvSpPr txBox="1"/>
          <p:nvPr/>
        </p:nvSpPr>
        <p:spPr>
          <a:xfrm>
            <a:off x="4581144" y="1947672"/>
            <a:ext cx="3136392" cy="1325880"/>
          </a:xfrm>
          <a:prstGeom prst="rect">
            <a:avLst/>
          </a:prstGeom>
          <a:noFill/>
        </p:spPr>
        <p:txBody>
          <a:bodyPr wrap="square" anchor="t" lIns="0" rIns="0" tIns="0" bIns="0">
            <a:spAutoFit/>
          </a:bodyPr>
          <a:lstStyle/>
          <a:p>
            <a:pPr algn="l">
              <a:lnSpc>
                <a:spcPct val="115000"/>
              </a:lnSpc>
            </a:pPr>
            <a:r>
              <a:rPr sz="1400" b="0">
                <a:solidFill>
                  <a:srgbClr val="262626"/>
                </a:solidFill>
                <a:latin typeface="微软雅黑"/>
                <a:ea typeface="微软雅黑"/>
              </a:rPr>
              <a:t>学生不知道“现在该学什么、</a:t>
            </a:r>
          </a:p>
          <a:p>
            <a:pPr algn="l">
              <a:lnSpc>
                <a:spcPct val="115000"/>
              </a:lnSpc>
            </a:pPr>
            <a:r>
              <a:rPr sz="1400" b="0">
                <a:solidFill>
                  <a:srgbClr val="262626"/>
                </a:solidFill>
                <a:latin typeface="微软雅黑"/>
                <a:ea typeface="微软雅黑"/>
              </a:rPr>
              <a:t>接下来能学什么”，学习顺序</a:t>
            </a:r>
          </a:p>
          <a:p>
            <a:pPr algn="l">
              <a:lnSpc>
                <a:spcPct val="115000"/>
              </a:lnSpc>
            </a:pPr>
            <a:r>
              <a:rPr sz="1400" b="0">
                <a:solidFill>
                  <a:srgbClr val="262626"/>
                </a:solidFill>
                <a:latin typeface="微软雅黑"/>
                <a:ea typeface="微软雅黑"/>
              </a:rPr>
              <a:t>全凭感觉，容易走弯路。</a:t>
            </a:r>
          </a:p>
        </p:txBody>
      </p:sp>
      <p:sp>
        <p:nvSpPr>
          <p:cNvPr id="13" name="Rounded Rectangle 12"/>
          <p:cNvSpPr/>
          <p:nvPr/>
        </p:nvSpPr>
        <p:spPr>
          <a:xfrm>
            <a:off x="8229600" y="1417320"/>
            <a:ext cx="3429000" cy="19659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4" name="TextBox 13"/>
          <p:cNvSpPr txBox="1"/>
          <p:nvPr/>
        </p:nvSpPr>
        <p:spPr>
          <a:xfrm>
            <a:off x="8375904" y="1527048"/>
            <a:ext cx="3136392" cy="384048"/>
          </a:xfrm>
          <a:prstGeom prst="rect">
            <a:avLst/>
          </a:prstGeom>
          <a:noFill/>
        </p:spPr>
        <p:txBody>
          <a:bodyPr wrap="square" anchor="t" lIns="0" rIns="0" tIns="0" bIns="0">
            <a:spAutoFit/>
          </a:bodyPr>
          <a:lstStyle/>
          <a:p>
            <a:pPr algn="l">
              <a:lnSpc>
                <a:spcPct val="112000"/>
              </a:lnSpc>
            </a:pPr>
            <a:r>
              <a:rPr sz="1700" b="1">
                <a:solidFill>
                  <a:srgbClr val="1F4E79"/>
                </a:solidFill>
                <a:latin typeface="微软雅黑"/>
                <a:ea typeface="微软雅黑"/>
              </a:rPr>
              <a:t>建图门槛高</a:t>
            </a:r>
          </a:p>
        </p:txBody>
      </p:sp>
      <p:sp>
        <p:nvSpPr>
          <p:cNvPr id="15" name="TextBox 14"/>
          <p:cNvSpPr txBox="1"/>
          <p:nvPr/>
        </p:nvSpPr>
        <p:spPr>
          <a:xfrm>
            <a:off x="8375904" y="1947672"/>
            <a:ext cx="3136392" cy="1325880"/>
          </a:xfrm>
          <a:prstGeom prst="rect">
            <a:avLst/>
          </a:prstGeom>
          <a:noFill/>
        </p:spPr>
        <p:txBody>
          <a:bodyPr wrap="square" anchor="t" lIns="0" rIns="0" tIns="0" bIns="0">
            <a:spAutoFit/>
          </a:bodyPr>
          <a:lstStyle/>
          <a:p>
            <a:pPr algn="l">
              <a:lnSpc>
                <a:spcPct val="115000"/>
              </a:lnSpc>
            </a:pPr>
            <a:r>
              <a:rPr sz="1400" b="0">
                <a:solidFill>
                  <a:srgbClr val="262626"/>
                </a:solidFill>
                <a:latin typeface="微软雅黑"/>
                <a:ea typeface="微软雅黑"/>
              </a:rPr>
              <a:t>传统图谱构建依赖教师/专家手工</a:t>
            </a:r>
          </a:p>
          <a:p>
            <a:pPr algn="l">
              <a:lnSpc>
                <a:spcPct val="115000"/>
              </a:lnSpc>
            </a:pPr>
            <a:r>
              <a:rPr sz="1400" b="0">
                <a:solidFill>
                  <a:srgbClr val="262626"/>
                </a:solidFill>
                <a:latin typeface="微软雅黑"/>
                <a:ea typeface="微软雅黑"/>
              </a:rPr>
              <a:t>整理，工作量大、周期长、</a:t>
            </a:r>
          </a:p>
          <a:p>
            <a:pPr algn="l">
              <a:lnSpc>
                <a:spcPct val="115000"/>
              </a:lnSpc>
            </a:pPr>
            <a:r>
              <a:rPr sz="1400" b="0">
                <a:solidFill>
                  <a:srgbClr val="262626"/>
                </a:solidFill>
                <a:latin typeface="微软雅黑"/>
                <a:ea typeface="微软雅黑"/>
              </a:rPr>
              <a:t>难以规模化推广。</a:t>
            </a:r>
          </a:p>
        </p:txBody>
      </p:sp>
      <p:sp>
        <p:nvSpPr>
          <p:cNvPr id="16" name="Rounded Rectangle 15"/>
          <p:cNvSpPr/>
          <p:nvPr/>
        </p:nvSpPr>
        <p:spPr>
          <a:xfrm>
            <a:off x="640080" y="3794760"/>
            <a:ext cx="10927080" cy="1737360"/>
          </a:xfrm>
          <a:prstGeom prst="round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7" name="TextBox 16"/>
          <p:cNvSpPr txBox="1"/>
          <p:nvPr/>
        </p:nvSpPr>
        <p:spPr>
          <a:xfrm>
            <a:off x="914400" y="4005072"/>
            <a:ext cx="10424160" cy="1371600"/>
          </a:xfrm>
          <a:prstGeom prst="rect">
            <a:avLst/>
          </a:prstGeom>
          <a:noFill/>
        </p:spPr>
        <p:txBody>
          <a:bodyPr wrap="square" anchor="t" lIns="0" rIns="0" tIns="0" bIns="0">
            <a:spAutoFit/>
          </a:bodyPr>
          <a:lstStyle/>
          <a:p>
            <a:pPr algn="l">
              <a:lnSpc>
                <a:spcPct val="125000"/>
              </a:lnSpc>
            </a:pPr>
            <a:r>
              <a:rPr sz="1600" b="1">
                <a:solidFill>
                  <a:srgbClr val="1F4E79"/>
                </a:solidFill>
                <a:latin typeface="微软雅黑"/>
                <a:ea typeface="微软雅黑"/>
              </a:rPr>
              <a:t>AIGC 带来的机遇</a:t>
            </a:r>
          </a:p>
          <a:p>
            <a:pPr algn="l">
              <a:lnSpc>
                <a:spcPct val="125000"/>
              </a:lnSpc>
            </a:pPr>
            <a:r>
              <a:rPr sz="1400" b="0">
                <a:solidFill>
                  <a:srgbClr val="262626"/>
                </a:solidFill>
                <a:latin typeface="微软雅黑"/>
                <a:ea typeface="微软雅黑"/>
              </a:rPr>
              <a:t>大语言模型具备从自然语言文档中自动抽取知识点实体与语义关系的能力——把“数周级手工建图”</a:t>
            </a:r>
          </a:p>
          <a:p>
            <a:pPr algn="l">
              <a:lnSpc>
                <a:spcPct val="125000"/>
              </a:lnSpc>
            </a:pPr>
            <a:r>
              <a:rPr sz="1400" b="0">
                <a:solidFill>
                  <a:srgbClr val="262626"/>
                </a:solidFill>
                <a:latin typeface="微软雅黑"/>
                <a:ea typeface="微软雅黑"/>
              </a:rPr>
              <a:t>压缩为“上传即得的一分钟级自动流程”；再辅以基于图谱的问答与路径推荐，教学从“经验驱动”走向“数据驱动”。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方案总览：一条完整的自动化链路</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课程资料上传 → 文档解析 → 知识抽取与关系构建 → 图谱生成与可视化 → 智能学习导航</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03</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566928" y="1554480"/>
            <a:ext cx="1920240" cy="91440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566928" y="1700784"/>
            <a:ext cx="192024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资料上传</a:t>
            </a:r>
          </a:p>
        </p:txBody>
      </p:sp>
      <p:sp>
        <p:nvSpPr>
          <p:cNvPr id="9" name="TextBox 8"/>
          <p:cNvSpPr txBox="1"/>
          <p:nvPr/>
        </p:nvSpPr>
        <p:spPr>
          <a:xfrm>
            <a:off x="566928" y="2084831"/>
            <a:ext cx="1920240" cy="292608"/>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PDF / TXT</a:t>
            </a:r>
          </a:p>
        </p:txBody>
      </p:sp>
      <p:sp>
        <p:nvSpPr>
          <p:cNvPr id="10" name="Right Arrow 9"/>
          <p:cNvSpPr/>
          <p:nvPr/>
        </p:nvSpPr>
        <p:spPr>
          <a:xfrm>
            <a:off x="2523744" y="1892807"/>
            <a:ext cx="292608"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Rounded Rectangle 10"/>
          <p:cNvSpPr/>
          <p:nvPr/>
        </p:nvSpPr>
        <p:spPr>
          <a:xfrm>
            <a:off x="2852928" y="1554480"/>
            <a:ext cx="1920240" cy="9144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2" name="TextBox 11"/>
          <p:cNvSpPr txBox="1"/>
          <p:nvPr/>
        </p:nvSpPr>
        <p:spPr>
          <a:xfrm>
            <a:off x="2852928" y="1700784"/>
            <a:ext cx="192024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文档解析</a:t>
            </a:r>
          </a:p>
        </p:txBody>
      </p:sp>
      <p:sp>
        <p:nvSpPr>
          <p:cNvPr id="13" name="TextBox 12"/>
          <p:cNvSpPr txBox="1"/>
          <p:nvPr/>
        </p:nvSpPr>
        <p:spPr>
          <a:xfrm>
            <a:off x="2852928" y="2084831"/>
            <a:ext cx="1920240" cy="292608"/>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清洗·切块</a:t>
            </a:r>
          </a:p>
        </p:txBody>
      </p:sp>
      <p:sp>
        <p:nvSpPr>
          <p:cNvPr id="14" name="Right Arrow 13"/>
          <p:cNvSpPr/>
          <p:nvPr/>
        </p:nvSpPr>
        <p:spPr>
          <a:xfrm>
            <a:off x="4809744" y="1892807"/>
            <a:ext cx="292608"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5" name="Rounded Rectangle 14"/>
          <p:cNvSpPr/>
          <p:nvPr/>
        </p:nvSpPr>
        <p:spPr>
          <a:xfrm>
            <a:off x="5138928" y="1554480"/>
            <a:ext cx="1920240" cy="9144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6" name="TextBox 15"/>
          <p:cNvSpPr txBox="1"/>
          <p:nvPr/>
        </p:nvSpPr>
        <p:spPr>
          <a:xfrm>
            <a:off x="5138928" y="1700784"/>
            <a:ext cx="192024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知识抽取</a:t>
            </a:r>
          </a:p>
        </p:txBody>
      </p:sp>
      <p:sp>
        <p:nvSpPr>
          <p:cNvPr id="17" name="TextBox 16"/>
          <p:cNvSpPr txBox="1"/>
          <p:nvPr/>
        </p:nvSpPr>
        <p:spPr>
          <a:xfrm>
            <a:off x="5138928" y="2084831"/>
            <a:ext cx="1920240" cy="292608"/>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实体+关系</a:t>
            </a:r>
          </a:p>
        </p:txBody>
      </p:sp>
      <p:sp>
        <p:nvSpPr>
          <p:cNvPr id="18" name="Right Arrow 17"/>
          <p:cNvSpPr/>
          <p:nvPr/>
        </p:nvSpPr>
        <p:spPr>
          <a:xfrm>
            <a:off x="7095744" y="1892807"/>
            <a:ext cx="292608"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9" name="Rounded Rectangle 18"/>
          <p:cNvSpPr/>
          <p:nvPr/>
        </p:nvSpPr>
        <p:spPr>
          <a:xfrm>
            <a:off x="7424927" y="1554480"/>
            <a:ext cx="1920240" cy="9144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0" name="TextBox 19"/>
          <p:cNvSpPr txBox="1"/>
          <p:nvPr/>
        </p:nvSpPr>
        <p:spPr>
          <a:xfrm>
            <a:off x="7424927" y="1700784"/>
            <a:ext cx="192024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图谱可视化</a:t>
            </a:r>
          </a:p>
        </p:txBody>
      </p:sp>
      <p:sp>
        <p:nvSpPr>
          <p:cNvPr id="21" name="TextBox 20"/>
          <p:cNvSpPr txBox="1"/>
          <p:nvPr/>
        </p:nvSpPr>
        <p:spPr>
          <a:xfrm>
            <a:off x="7424927" y="2084831"/>
            <a:ext cx="1920240" cy="292608"/>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ECharts</a:t>
            </a:r>
          </a:p>
        </p:txBody>
      </p:sp>
      <p:sp>
        <p:nvSpPr>
          <p:cNvPr id="22" name="Right Arrow 21"/>
          <p:cNvSpPr/>
          <p:nvPr/>
        </p:nvSpPr>
        <p:spPr>
          <a:xfrm>
            <a:off x="9381743" y="1892807"/>
            <a:ext cx="292608"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3" name="Rounded Rectangle 22"/>
          <p:cNvSpPr/>
          <p:nvPr/>
        </p:nvSpPr>
        <p:spPr>
          <a:xfrm>
            <a:off x="9710928" y="1554480"/>
            <a:ext cx="1920240" cy="91440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4" name="TextBox 23"/>
          <p:cNvSpPr txBox="1"/>
          <p:nvPr/>
        </p:nvSpPr>
        <p:spPr>
          <a:xfrm>
            <a:off x="9710928" y="1700784"/>
            <a:ext cx="192024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智能导航</a:t>
            </a:r>
          </a:p>
        </p:txBody>
      </p:sp>
      <p:sp>
        <p:nvSpPr>
          <p:cNvPr id="25" name="TextBox 24"/>
          <p:cNvSpPr txBox="1"/>
          <p:nvPr/>
        </p:nvSpPr>
        <p:spPr>
          <a:xfrm>
            <a:off x="9710928" y="2084831"/>
            <a:ext cx="1920240" cy="292608"/>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问答+路径</a:t>
            </a:r>
          </a:p>
        </p:txBody>
      </p:sp>
      <p:sp>
        <p:nvSpPr>
          <p:cNvPr id="26" name="TextBox 25"/>
          <p:cNvSpPr txBox="1"/>
          <p:nvPr/>
        </p:nvSpPr>
        <p:spPr>
          <a:xfrm>
            <a:off x="566928" y="2788920"/>
            <a:ext cx="11064240" cy="365760"/>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教师上传一份教材，系统一分钟内自动产出结构化知识图谱；无大模型 Key 时自动进入离线演示模式，全流程照常可跑。</a:t>
            </a:r>
          </a:p>
        </p:txBody>
      </p:sp>
      <p:sp>
        <p:nvSpPr>
          <p:cNvPr id="27" name="Rounded Rectangle 26"/>
          <p:cNvSpPr/>
          <p:nvPr/>
        </p:nvSpPr>
        <p:spPr>
          <a:xfrm>
            <a:off x="566928" y="3383280"/>
            <a:ext cx="5486400" cy="26517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8" name="TextBox 27"/>
          <p:cNvSpPr txBox="1"/>
          <p:nvPr/>
        </p:nvSpPr>
        <p:spPr>
          <a:xfrm>
            <a:off x="713232" y="3493008"/>
            <a:ext cx="5193792" cy="384048"/>
          </a:xfrm>
          <a:prstGeom prst="rect">
            <a:avLst/>
          </a:prstGeom>
          <a:noFill/>
        </p:spPr>
        <p:txBody>
          <a:bodyPr wrap="square" anchor="t" lIns="0" rIns="0" tIns="0" bIns="0">
            <a:spAutoFit/>
          </a:bodyPr>
          <a:lstStyle/>
          <a:p>
            <a:pPr algn="l">
              <a:lnSpc>
                <a:spcPct val="112000"/>
              </a:lnSpc>
            </a:pPr>
            <a:r>
              <a:rPr sz="1500" b="1">
                <a:solidFill>
                  <a:srgbClr val="1F4E79"/>
                </a:solidFill>
                <a:latin typeface="微软雅黑"/>
                <a:ea typeface="微软雅黑"/>
              </a:rPr>
              <a:t>教师端：把建图门槛降到“会上传文件”</a:t>
            </a:r>
          </a:p>
        </p:txBody>
      </p:sp>
      <p:sp>
        <p:nvSpPr>
          <p:cNvPr id="29" name="TextBox 28"/>
          <p:cNvSpPr txBox="1"/>
          <p:nvPr/>
        </p:nvSpPr>
        <p:spPr>
          <a:xfrm>
            <a:off x="713232" y="3913632"/>
            <a:ext cx="5193792" cy="201168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 上传 PDF/TXT，自动解析（GBK 编码自动回退）</a:t>
            </a:r>
          </a:p>
          <a:p>
            <a:pPr algn="l">
              <a:lnSpc>
                <a:spcPct val="115000"/>
              </a:lnSpc>
            </a:pPr>
            <a:r>
              <a:rPr sz="1350" b="0">
                <a:solidFill>
                  <a:srgbClr val="262626"/>
                </a:solidFill>
                <a:latin typeface="微软雅黑"/>
                <a:ea typeface="微软雅黑"/>
              </a:rPr>
              <a:t>• 章节感知切块 → 大模型分批抽取（结构化约束）</a:t>
            </a:r>
          </a:p>
          <a:p>
            <a:pPr algn="l">
              <a:lnSpc>
                <a:spcPct val="115000"/>
              </a:lnSpc>
            </a:pPr>
            <a:r>
              <a:rPr sz="1350" b="0">
                <a:solidFill>
                  <a:srgbClr val="262626"/>
                </a:solidFill>
                <a:latin typeface="微软雅黑"/>
                <a:ea typeface="微软雅黑"/>
              </a:rPr>
              <a:t>• 三类关系：前置 / 包含 / 相关，三重清洗入图</a:t>
            </a:r>
          </a:p>
          <a:p>
            <a:pPr algn="l">
              <a:lnSpc>
                <a:spcPct val="115000"/>
              </a:lnSpc>
            </a:pPr>
            <a:r>
              <a:rPr sz="1350" b="0">
                <a:solidFill>
                  <a:srgbClr val="262626"/>
                </a:solidFill>
                <a:latin typeface="微软雅黑"/>
                <a:ea typeface="微软雅黑"/>
              </a:rPr>
              <a:t>• 图谱实时预览，节点与关系可增删改（赛题加分项）</a:t>
            </a:r>
          </a:p>
          <a:p>
            <a:pPr algn="l">
              <a:lnSpc>
                <a:spcPct val="115000"/>
              </a:lnSpc>
            </a:pPr>
            <a:r>
              <a:rPr sz="1350" b="0">
                <a:solidFill>
                  <a:srgbClr val="262626"/>
                </a:solidFill>
                <a:latin typeface="微软雅黑"/>
                <a:ea typeface="微软雅黑"/>
              </a:rPr>
              <a:t>• 多课程独立管理，耗时分解透明可查</a:t>
            </a:r>
          </a:p>
        </p:txBody>
      </p:sp>
      <p:sp>
        <p:nvSpPr>
          <p:cNvPr id="30" name="Rounded Rectangle 29"/>
          <p:cNvSpPr/>
          <p:nvPr/>
        </p:nvSpPr>
        <p:spPr>
          <a:xfrm>
            <a:off x="6355080" y="3383280"/>
            <a:ext cx="5486400" cy="26517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1" name="TextBox 30"/>
          <p:cNvSpPr txBox="1"/>
          <p:nvPr/>
        </p:nvSpPr>
        <p:spPr>
          <a:xfrm>
            <a:off x="6501384" y="3493008"/>
            <a:ext cx="5193792" cy="384048"/>
          </a:xfrm>
          <a:prstGeom prst="rect">
            <a:avLst/>
          </a:prstGeom>
          <a:noFill/>
        </p:spPr>
        <p:txBody>
          <a:bodyPr wrap="square" anchor="t" lIns="0" rIns="0" tIns="0" bIns="0">
            <a:spAutoFit/>
          </a:bodyPr>
          <a:lstStyle/>
          <a:p>
            <a:pPr algn="l">
              <a:lnSpc>
                <a:spcPct val="112000"/>
              </a:lnSpc>
            </a:pPr>
            <a:r>
              <a:rPr sz="1500" b="1">
                <a:solidFill>
                  <a:srgbClr val="1F4E79"/>
                </a:solidFill>
                <a:latin typeface="微软雅黑"/>
                <a:ea typeface="微软雅黑"/>
              </a:rPr>
              <a:t>学生端：每一步都有依据、有推荐、可溯源</a:t>
            </a:r>
          </a:p>
        </p:txBody>
      </p:sp>
      <p:sp>
        <p:nvSpPr>
          <p:cNvPr id="32" name="TextBox 31"/>
          <p:cNvSpPr txBox="1"/>
          <p:nvPr/>
        </p:nvSpPr>
        <p:spPr>
          <a:xfrm>
            <a:off x="6501384" y="3913632"/>
            <a:ext cx="5193792" cy="201168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 ECharts 力导向图谱：缩放、拖拽、点击看详情</a:t>
            </a:r>
          </a:p>
          <a:p>
            <a:pPr algn="l">
              <a:lnSpc>
                <a:spcPct val="115000"/>
              </a:lnSpc>
            </a:pPr>
            <a:r>
              <a:rPr sz="1350" b="0">
                <a:solidFill>
                  <a:srgbClr val="262626"/>
                </a:solidFill>
                <a:latin typeface="微软雅黑"/>
                <a:ea typeface="微软雅黑"/>
              </a:rPr>
              <a:t>• 按章节勾选“已掌握”，进度按学生×课程隔离</a:t>
            </a:r>
          </a:p>
          <a:p>
            <a:pPr algn="l">
              <a:lnSpc>
                <a:spcPct val="115000"/>
              </a:lnSpc>
            </a:pPr>
            <a:r>
              <a:rPr sz="1350" b="0">
                <a:solidFill>
                  <a:srgbClr val="262626"/>
                </a:solidFill>
                <a:latin typeface="微软雅黑"/>
                <a:ea typeface="微软雅黑"/>
              </a:rPr>
              <a:t>• 图遍历推荐下一步学什么，附推荐理由</a:t>
            </a:r>
          </a:p>
          <a:p>
            <a:pPr algn="l">
              <a:lnSpc>
                <a:spcPct val="115000"/>
              </a:lnSpc>
            </a:pPr>
            <a:r>
              <a:rPr sz="1350" b="0">
                <a:solidFill>
                  <a:srgbClr val="262626"/>
                </a:solidFill>
                <a:latin typeface="微软雅黑"/>
                <a:ea typeface="微软雅黑"/>
              </a:rPr>
              <a:t>• 智能问答严格依据教材，标注参考章节与引用片段</a:t>
            </a:r>
          </a:p>
          <a:p>
            <a:pPr algn="l">
              <a:lnSpc>
                <a:spcPct val="115000"/>
              </a:lnSpc>
            </a:pPr>
            <a:r>
              <a:rPr sz="1350" b="0">
                <a:solidFill>
                  <a:srgbClr val="262626"/>
                </a:solidFill>
                <a:latin typeface="微软雅黑"/>
                <a:ea typeface="微软雅黑"/>
              </a:rPr>
              <a:t>• 教材未涉及的问题明确拒答，不编造</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总体架构：四层单向依赖，存储可插拔</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Next.js 15 全栈同构 · TypeScript 全程类型约束 · zod 运行时校验</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04</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640080" y="1463040"/>
            <a:ext cx="1554480" cy="841248"/>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640080" y="1719072"/>
            <a:ext cx="155448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前端层</a:t>
            </a:r>
          </a:p>
        </p:txBody>
      </p:sp>
      <p:sp>
        <p:nvSpPr>
          <p:cNvPr id="9" name="Rounded Rectangle 8"/>
          <p:cNvSpPr/>
          <p:nvPr/>
        </p:nvSpPr>
        <p:spPr>
          <a:xfrm>
            <a:off x="2194560" y="1463040"/>
            <a:ext cx="9372600" cy="841248"/>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0" name="TextBox 9"/>
          <p:cNvSpPr txBox="1"/>
          <p:nvPr/>
        </p:nvSpPr>
        <p:spPr>
          <a:xfrm>
            <a:off x="2395728" y="1554480"/>
            <a:ext cx="9006840" cy="685800"/>
          </a:xfrm>
          <a:prstGeom prst="rect">
            <a:avLst/>
          </a:prstGeom>
          <a:noFill/>
        </p:spPr>
        <p:txBody>
          <a:bodyPr wrap="square" anchor="ctr" lIns="0" rIns="0" tIns="0" bIns="0">
            <a:spAutoFit/>
          </a:bodyPr>
          <a:lstStyle/>
          <a:p>
            <a:pPr algn="l">
              <a:lnSpc>
                <a:spcPct val="112000"/>
              </a:lnSpc>
            </a:pPr>
            <a:r>
              <a:rPr sz="1300" b="0">
                <a:solidFill>
                  <a:srgbClr val="262626"/>
                </a:solidFill>
                <a:latin typeface="微软雅黑"/>
                <a:ea typeface="微软雅黑"/>
              </a:rPr>
              <a:t>教师端 2 页（上传 / 图谱管理） + 学生端 3 页（图谱 / 问答 / 路径） + 登录页；ECharts 图谱、流式对话、课程切换等组件</a:t>
            </a:r>
          </a:p>
        </p:txBody>
      </p:sp>
      <p:sp>
        <p:nvSpPr>
          <p:cNvPr id="11" name="Rounded Rectangle 10"/>
          <p:cNvSpPr/>
          <p:nvPr/>
        </p:nvSpPr>
        <p:spPr>
          <a:xfrm>
            <a:off x="640080" y="2432304"/>
            <a:ext cx="1554480" cy="841248"/>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2" name="TextBox 11"/>
          <p:cNvSpPr txBox="1"/>
          <p:nvPr/>
        </p:nvSpPr>
        <p:spPr>
          <a:xfrm>
            <a:off x="640080" y="2688336"/>
            <a:ext cx="155448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接口层</a:t>
            </a:r>
          </a:p>
        </p:txBody>
      </p:sp>
      <p:sp>
        <p:nvSpPr>
          <p:cNvPr id="13" name="Rounded Rectangle 12"/>
          <p:cNvSpPr/>
          <p:nvPr/>
        </p:nvSpPr>
        <p:spPr>
          <a:xfrm>
            <a:off x="2194560" y="2432304"/>
            <a:ext cx="9372600" cy="841248"/>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4" name="TextBox 13"/>
          <p:cNvSpPr txBox="1"/>
          <p:nvPr/>
        </p:nvSpPr>
        <p:spPr>
          <a:xfrm>
            <a:off x="2395728" y="2523744"/>
            <a:ext cx="9006840" cy="685800"/>
          </a:xfrm>
          <a:prstGeom prst="rect">
            <a:avLst/>
          </a:prstGeom>
          <a:noFill/>
        </p:spPr>
        <p:txBody>
          <a:bodyPr wrap="square" anchor="ctr" lIns="0" rIns="0" tIns="0" bIns="0">
            <a:spAutoFit/>
          </a:bodyPr>
          <a:lstStyle/>
          <a:p>
            <a:pPr algn="l">
              <a:lnSpc>
                <a:spcPct val="112000"/>
              </a:lnSpc>
            </a:pPr>
            <a:r>
              <a:rPr sz="1300" b="0">
                <a:solidFill>
                  <a:srgbClr val="262626"/>
                </a:solidFill>
                <a:latin typeface="微软雅黑"/>
                <a:ea typeface="微软雅黑"/>
              </a:rPr>
              <a:t>13 个 REST 端点：上传建图、图谱、知识点、关系、问答、掌握、推荐；统一响应包装；NextAuth 角色守卫区分 401/403</a:t>
            </a:r>
          </a:p>
        </p:txBody>
      </p:sp>
      <p:sp>
        <p:nvSpPr>
          <p:cNvPr id="15" name="Rounded Rectangle 14"/>
          <p:cNvSpPr/>
          <p:nvPr/>
        </p:nvSpPr>
        <p:spPr>
          <a:xfrm>
            <a:off x="640080" y="3401568"/>
            <a:ext cx="1554480" cy="841248"/>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6" name="TextBox 15"/>
          <p:cNvSpPr txBox="1"/>
          <p:nvPr/>
        </p:nvSpPr>
        <p:spPr>
          <a:xfrm>
            <a:off x="640080" y="3657600"/>
            <a:ext cx="155448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服务层</a:t>
            </a:r>
          </a:p>
        </p:txBody>
      </p:sp>
      <p:sp>
        <p:nvSpPr>
          <p:cNvPr id="17" name="Rounded Rectangle 16"/>
          <p:cNvSpPr/>
          <p:nvPr/>
        </p:nvSpPr>
        <p:spPr>
          <a:xfrm>
            <a:off x="2194560" y="3401568"/>
            <a:ext cx="9372600" cy="841248"/>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8" name="TextBox 17"/>
          <p:cNvSpPr txBox="1"/>
          <p:nvPr/>
        </p:nvSpPr>
        <p:spPr>
          <a:xfrm>
            <a:off x="2395728" y="3493008"/>
            <a:ext cx="9006840" cy="685800"/>
          </a:xfrm>
          <a:prstGeom prst="rect">
            <a:avLst/>
          </a:prstGeom>
          <a:noFill/>
        </p:spPr>
        <p:txBody>
          <a:bodyPr wrap="square" anchor="ctr" lIns="0" rIns="0" tIns="0" bIns="0">
            <a:spAutoFit/>
          </a:bodyPr>
          <a:lstStyle/>
          <a:p>
            <a:pPr algn="l">
              <a:lnSpc>
                <a:spcPct val="112000"/>
              </a:lnSpc>
            </a:pPr>
            <a:r>
              <a:rPr sz="1300" b="0">
                <a:solidFill>
                  <a:srgbClr val="262626"/>
                </a:solidFill>
                <a:latin typeface="微软雅黑"/>
                <a:ea typeface="微软雅黑"/>
              </a:rPr>
              <a:t>文档解析（PDF/TXT·GBK 回退·章节切块）｜ RAG（bigram 检索·离线兜底）｜ 路径推荐（图遍历）｜ 知识抽取（AI SDK + zod）</a:t>
            </a:r>
          </a:p>
        </p:txBody>
      </p:sp>
      <p:sp>
        <p:nvSpPr>
          <p:cNvPr id="19" name="Rounded Rectangle 18"/>
          <p:cNvSpPr/>
          <p:nvPr/>
        </p:nvSpPr>
        <p:spPr>
          <a:xfrm>
            <a:off x="640080" y="4370832"/>
            <a:ext cx="1554480" cy="841248"/>
          </a:xfrm>
          <a:prstGeom prst="roundRect">
            <a:avLst/>
          </a:prstGeom>
          <a:solidFill>
            <a:srgbClr val="5482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0" name="TextBox 19"/>
          <p:cNvSpPr txBox="1"/>
          <p:nvPr/>
        </p:nvSpPr>
        <p:spPr>
          <a:xfrm>
            <a:off x="640080" y="4626864"/>
            <a:ext cx="1554480" cy="365760"/>
          </a:xfrm>
          <a:prstGeom prst="rect">
            <a:avLst/>
          </a:prstGeom>
          <a:noFill/>
        </p:spPr>
        <p:txBody>
          <a:bodyPr wrap="square" anchor="t" lIns="0" rIns="0" tIns="0" bIns="0">
            <a:spAutoFit/>
          </a:bodyPr>
          <a:lstStyle/>
          <a:p>
            <a:pPr algn="ctr">
              <a:lnSpc>
                <a:spcPct val="112000"/>
              </a:lnSpc>
            </a:pPr>
            <a:r>
              <a:rPr sz="1600" b="1">
                <a:solidFill>
                  <a:srgbClr val="FFFFFF"/>
                </a:solidFill>
                <a:latin typeface="微软雅黑"/>
                <a:ea typeface="微软雅黑"/>
              </a:rPr>
              <a:t>存储层</a:t>
            </a:r>
          </a:p>
        </p:txBody>
      </p:sp>
      <p:sp>
        <p:nvSpPr>
          <p:cNvPr id="21" name="Rounded Rectangle 20"/>
          <p:cNvSpPr/>
          <p:nvPr/>
        </p:nvSpPr>
        <p:spPr>
          <a:xfrm>
            <a:off x="2194560" y="4370832"/>
            <a:ext cx="9372600" cy="841248"/>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2" name="TextBox 21"/>
          <p:cNvSpPr txBox="1"/>
          <p:nvPr/>
        </p:nvSpPr>
        <p:spPr>
          <a:xfrm>
            <a:off x="2395728" y="4462272"/>
            <a:ext cx="9006840" cy="685800"/>
          </a:xfrm>
          <a:prstGeom prst="rect">
            <a:avLst/>
          </a:prstGeom>
          <a:noFill/>
        </p:spPr>
        <p:txBody>
          <a:bodyPr wrap="square" anchor="ctr" lIns="0" rIns="0" tIns="0" bIns="0">
            <a:spAutoFit/>
          </a:bodyPr>
          <a:lstStyle/>
          <a:p>
            <a:pPr algn="l">
              <a:lnSpc>
                <a:spcPct val="112000"/>
              </a:lnSpc>
            </a:pPr>
            <a:r>
              <a:rPr sz="1300" b="0">
                <a:solidFill>
                  <a:srgbClr val="262626"/>
                </a:solidFill>
                <a:latin typeface="微软雅黑"/>
                <a:ea typeface="微软雅黑"/>
              </a:rPr>
              <a:t>GraphStore 统一接口（14 方法，按课程隔离）：Neo4j（Cypher）与 JSON 文件双实现，auto 模式探测连通性自动降级</a:t>
            </a:r>
          </a:p>
        </p:txBody>
      </p:sp>
      <p:sp>
        <p:nvSpPr>
          <p:cNvPr id="23" name="TextBox 22"/>
          <p:cNvSpPr txBox="1"/>
          <p:nvPr/>
        </p:nvSpPr>
        <p:spPr>
          <a:xfrm>
            <a:off x="640080" y="5486400"/>
            <a:ext cx="10972800" cy="685800"/>
          </a:xfrm>
          <a:prstGeom prst="rect">
            <a:avLst/>
          </a:prstGeom>
          <a:noFill/>
        </p:spPr>
        <p:txBody>
          <a:bodyPr wrap="square" anchor="t" lIns="0" rIns="0" tIns="0" bIns="0">
            <a:spAutoFit/>
          </a:bodyPr>
          <a:lstStyle/>
          <a:p>
            <a:pPr algn="l">
              <a:lnSpc>
                <a:spcPct val="125000"/>
              </a:lnSpc>
            </a:pPr>
            <a:r>
              <a:rPr sz="1350" b="0">
                <a:solidFill>
                  <a:srgbClr val="595959"/>
                </a:solidFill>
                <a:latin typeface="微软雅黑"/>
                <a:ea typeface="微软雅黑"/>
              </a:rPr>
              <a:t>关键架构约束：业务层只依赖 GraphStore 接口，不感知底层实现——评审机器没有 Neo4j 时自动降级 JSON 存储，</a:t>
            </a:r>
          </a:p>
          <a:p>
            <a:pPr algn="l">
              <a:lnSpc>
                <a:spcPct val="125000"/>
              </a:lnSpc>
            </a:pPr>
            <a:r>
              <a:rPr sz="1350" b="0">
                <a:solidFill>
                  <a:srgbClr val="595959"/>
                </a:solidFill>
                <a:latin typeface="微软雅黑"/>
                <a:ea typeface="微软雅黑"/>
              </a:rPr>
              <a:t>零配置即可跑通全流程；配置 Neo4j 后无缝切换真实图数据库，代码零改动。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教师端：上传即建图，图谱可修正</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赛题加分项“教师手动修正图谱”已完整实现</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05</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566928" y="1417320"/>
            <a:ext cx="5486400" cy="44805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713232" y="152704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自动建图流水线（上传 → 图谱）</a:t>
            </a:r>
          </a:p>
        </p:txBody>
      </p:sp>
      <p:sp>
        <p:nvSpPr>
          <p:cNvPr id="9" name="TextBox 8"/>
          <p:cNvSpPr txBox="1"/>
          <p:nvPr/>
        </p:nvSpPr>
        <p:spPr>
          <a:xfrm>
            <a:off x="713232" y="1947672"/>
            <a:ext cx="5193792" cy="3840480"/>
          </a:xfrm>
          <a:prstGeom prst="rect">
            <a:avLst/>
          </a:prstGeom>
          <a:noFill/>
        </p:spPr>
        <p:txBody>
          <a:bodyPr wrap="square" anchor="t" lIns="0" rIns="0" tIns="0" bIns="0">
            <a:spAutoFit/>
          </a:bodyPr>
          <a:lstStyle/>
          <a:p>
            <a:pPr algn="l">
              <a:lnSpc>
                <a:spcPct val="115000"/>
              </a:lnSpc>
            </a:pPr>
            <a:r>
              <a:rPr sz="1400" b="0">
                <a:solidFill>
                  <a:srgbClr val="262626"/>
                </a:solidFill>
                <a:latin typeface="微软雅黑"/>
                <a:ea typeface="微软雅黑"/>
              </a:rPr>
              <a:t>1. 选择课程并上传 PDF/TXT（白名单校验，≤20MB）</a:t>
            </a:r>
          </a:p>
          <a:p>
            <a:pPr algn="l">
              <a:lnSpc>
                <a:spcPct val="115000"/>
              </a:lnSpc>
            </a:pPr>
            <a:r>
              <a:rPr sz="1400" b="0">
                <a:solidFill>
                  <a:srgbClr val="262626"/>
                </a:solidFill>
                <a:latin typeface="微软雅黑"/>
                <a:ea typeface="微软雅黑"/>
              </a:rPr>
              <a:t>2. 文档解析：PDF 走 pdf-parse；TXT 按 UTF-8 解码，</a:t>
            </a:r>
          </a:p>
          <a:p>
            <a:pPr algn="l">
              <a:lnSpc>
                <a:spcPct val="115000"/>
              </a:lnSpc>
            </a:pPr>
            <a:r>
              <a:rPr sz="1400" b="0">
                <a:solidFill>
                  <a:srgbClr val="262626"/>
                </a:solidFill>
                <a:latin typeface="微软雅黑"/>
                <a:ea typeface="微软雅黑"/>
              </a:rPr>
              <a:t>    检测到乱码替换符自动回退 GBK（国内教材友好）</a:t>
            </a:r>
          </a:p>
          <a:p>
            <a:pPr algn="l">
              <a:lnSpc>
                <a:spcPct val="115000"/>
              </a:lnSpc>
            </a:pPr>
            <a:r>
              <a:rPr sz="1400" b="0">
                <a:solidFill>
                  <a:srgbClr val="262626"/>
                </a:solidFill>
                <a:latin typeface="微软雅黑"/>
                <a:ea typeface="微软雅黑"/>
              </a:rPr>
              <a:t>3. 清洗页码页眉 → 章节标题感知切块（尽量不拆段落）</a:t>
            </a:r>
          </a:p>
          <a:p>
            <a:pPr algn="l">
              <a:lnSpc>
                <a:spcPct val="115000"/>
              </a:lnSpc>
            </a:pPr>
            <a:r>
              <a:rPr sz="1400" b="0">
                <a:solidFill>
                  <a:srgbClr val="262626"/>
                </a:solidFill>
                <a:latin typeface="微软雅黑"/>
                <a:ea typeface="微软雅黑"/>
              </a:rPr>
              <a:t>4. 大模型分批抽取：块数上限 6、并发 3、单块失败跳过</a:t>
            </a:r>
          </a:p>
          <a:p>
            <a:pPr algn="l">
              <a:lnSpc>
                <a:spcPct val="115000"/>
              </a:lnSpc>
            </a:pPr>
            <a:r>
              <a:rPr sz="1400" b="0">
                <a:solidFill>
                  <a:srgbClr val="262626"/>
                </a:solidFill>
                <a:latin typeface="微软雅黑"/>
                <a:ea typeface="微软雅黑"/>
              </a:rPr>
              <a:t>    zod schema 强约束输出，名称归一化去重</a:t>
            </a:r>
          </a:p>
          <a:p>
            <a:pPr algn="l">
              <a:lnSpc>
                <a:spcPct val="115000"/>
              </a:lnSpc>
            </a:pPr>
            <a:r>
              <a:rPr sz="1400" b="0">
                <a:solidFill>
                  <a:srgbClr val="262626"/>
                </a:solidFill>
                <a:latin typeface="微软雅黑"/>
                <a:ea typeface="微软雅黑"/>
              </a:rPr>
              <a:t>5. 关系三重清洗：类型白名单 → 端点校验 → 去自环去重</a:t>
            </a:r>
          </a:p>
          <a:p>
            <a:pPr algn="l">
              <a:lnSpc>
                <a:spcPct val="115000"/>
              </a:lnSpc>
            </a:pPr>
            <a:r>
              <a:rPr sz="1400" b="0">
                <a:solidFill>
                  <a:srgbClr val="262626"/>
                </a:solidFill>
                <a:latin typeface="微软雅黑"/>
                <a:ea typeface="微软雅黑"/>
              </a:rPr>
              <a:t>6. 单事务批量建图；返回知识点/关系/文本块数量与</a:t>
            </a:r>
          </a:p>
          <a:p>
            <a:pPr algn="l">
              <a:lnSpc>
                <a:spcPct val="115000"/>
              </a:lnSpc>
            </a:pPr>
            <a:r>
              <a:rPr sz="1400" b="0">
                <a:solidFill>
                  <a:srgbClr val="262626"/>
                </a:solidFill>
                <a:latin typeface="微软雅黑"/>
                <a:ea typeface="微软雅黑"/>
              </a:rPr>
              <a:t>    解析/抽取/合计耗时分解，供 60 秒指标逐次核查</a:t>
            </a:r>
          </a:p>
        </p:txBody>
      </p:sp>
      <p:sp>
        <p:nvSpPr>
          <p:cNvPr id="10" name="Rounded Rectangle 9"/>
          <p:cNvSpPr/>
          <p:nvPr/>
        </p:nvSpPr>
        <p:spPr>
          <a:xfrm>
            <a:off x="6355080" y="1417320"/>
            <a:ext cx="5486400" cy="44805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6501384" y="152704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手动修正（实时预览联动）</a:t>
            </a:r>
          </a:p>
        </p:txBody>
      </p:sp>
      <p:sp>
        <p:nvSpPr>
          <p:cNvPr id="12" name="TextBox 11"/>
          <p:cNvSpPr txBox="1"/>
          <p:nvPr/>
        </p:nvSpPr>
        <p:spPr>
          <a:xfrm>
            <a:off x="6501384" y="1947672"/>
            <a:ext cx="5193792" cy="3840480"/>
          </a:xfrm>
          <a:prstGeom prst="rect">
            <a:avLst/>
          </a:prstGeom>
          <a:noFill/>
        </p:spPr>
        <p:txBody>
          <a:bodyPr wrap="square" anchor="t" lIns="0" rIns="0" tIns="0" bIns="0">
            <a:spAutoFit/>
          </a:bodyPr>
          <a:lstStyle/>
          <a:p>
            <a:pPr algn="l">
              <a:lnSpc>
                <a:spcPct val="115000"/>
              </a:lnSpc>
            </a:pPr>
            <a:r>
              <a:rPr sz="1400" b="0">
                <a:solidFill>
                  <a:srgbClr val="262626"/>
                </a:solidFill>
                <a:latin typeface="微软雅黑"/>
                <a:ea typeface="微软雅黑"/>
              </a:rPr>
              <a:t>• 知识点：新增 / 编辑 / 删除（删除级联清理关联关系）</a:t>
            </a:r>
          </a:p>
          <a:p>
            <a:pPr algn="l">
              <a:lnSpc>
                <a:spcPct val="115000"/>
              </a:lnSpc>
            </a:pPr>
            <a:r>
              <a:rPr sz="1400" b="0">
                <a:solidFill>
                  <a:srgbClr val="262626"/>
                </a:solidFill>
                <a:latin typeface="微软雅黑"/>
                <a:ea typeface="微软雅黑"/>
              </a:rPr>
              <a:t>• 关系：新增 / 删除，类型限定前置 / 包含 / 相关</a:t>
            </a:r>
          </a:p>
          <a:p>
            <a:pPr algn="l">
              <a:lnSpc>
                <a:spcPct val="115000"/>
              </a:lnSpc>
            </a:pPr>
            <a:r>
              <a:rPr sz="1400" b="0">
                <a:solidFill>
                  <a:srgbClr val="262626"/>
                </a:solidFill>
                <a:latin typeface="微软雅黑"/>
                <a:ea typeface="微软雅黑"/>
              </a:rPr>
              <a:t>• ECharts 图谱实时预览，改动即刻反映到图上</a:t>
            </a:r>
          </a:p>
          <a:p>
            <a:pPr algn="l">
              <a:lnSpc>
                <a:spcPct val="115000"/>
              </a:lnSpc>
            </a:pPr>
            <a:r>
              <a:rPr sz="1400" b="0">
                <a:solidFill>
                  <a:srgbClr val="262626"/>
                </a:solidFill>
                <a:latin typeface="微软雅黑"/>
                <a:ea typeface="微软雅黑"/>
              </a:rPr>
              <a:t>• 全量知识点列表管理（名称/章节/难度/定义）</a:t>
            </a:r>
          </a:p>
          <a:p>
            <a:pPr algn="l">
              <a:lnSpc>
                <a:spcPct val="115000"/>
              </a:lnSpc>
            </a:pPr>
            <a:r>
              <a:rPr sz="600" b="0">
                <a:solidFill>
                  <a:srgbClr val="262626"/>
                </a:solidFill>
                <a:latin typeface="微软雅黑"/>
                <a:ea typeface="微软雅黑"/>
              </a:rPr>
              <a:t/>
            </a:r>
          </a:p>
          <a:p>
            <a:pPr algn="l">
              <a:lnSpc>
                <a:spcPct val="115000"/>
              </a:lnSpc>
            </a:pPr>
            <a:r>
              <a:rPr sz="1500" b="1">
                <a:solidFill>
                  <a:srgbClr val="1F4E79"/>
                </a:solidFill>
                <a:latin typeface="微软雅黑"/>
                <a:ea typeface="微软雅黑"/>
              </a:rPr>
              <a:t>多课程管理</a:t>
            </a:r>
          </a:p>
          <a:p>
            <a:pPr algn="l">
              <a:lnSpc>
                <a:spcPct val="115000"/>
              </a:lnSpc>
            </a:pPr>
            <a:r>
              <a:rPr sz="1400" b="0">
                <a:solidFill>
                  <a:srgbClr val="262626"/>
                </a:solidFill>
                <a:latin typeface="微软雅黑"/>
                <a:ea typeface="微软雅黑"/>
              </a:rPr>
              <a:t>• 上传时自定义课程 ID 与名称，可同时维护多门课程</a:t>
            </a:r>
          </a:p>
          <a:p>
            <a:pPr algn="l">
              <a:lnSpc>
                <a:spcPct val="115000"/>
              </a:lnSpc>
            </a:pPr>
            <a:r>
              <a:rPr sz="1400" b="0">
                <a:solidFill>
                  <a:srgbClr val="262626"/>
                </a:solidFill>
                <a:latin typeface="微软雅黑"/>
                <a:ea typeface="微软雅黑"/>
              </a:rPr>
              <a:t>• 图谱 / 语料 / 掌握状态按课程全链路隔离，切换即生效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学生端：浏览 · 勾选 · 被推荐</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以“学生×课程”维度的掌握状态驱动个性化学习导航</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06</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566928" y="1463040"/>
            <a:ext cx="3456432" cy="22860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713232" y="1572768"/>
            <a:ext cx="3163824"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图谱浏览与详情</a:t>
            </a:r>
          </a:p>
        </p:txBody>
      </p:sp>
      <p:sp>
        <p:nvSpPr>
          <p:cNvPr id="9" name="TextBox 8"/>
          <p:cNvSpPr txBox="1"/>
          <p:nvPr/>
        </p:nvSpPr>
        <p:spPr>
          <a:xfrm>
            <a:off x="713232" y="1993392"/>
            <a:ext cx="3163824" cy="164592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ECharts 力导向图：缩放、拖拽；</a:t>
            </a:r>
          </a:p>
          <a:p>
            <a:pPr algn="l">
              <a:lnSpc>
                <a:spcPct val="115000"/>
              </a:lnSpc>
            </a:pPr>
            <a:r>
              <a:rPr sz="1350" b="0">
                <a:solidFill>
                  <a:srgbClr val="262626"/>
                </a:solidFill>
                <a:latin typeface="微软雅黑"/>
                <a:ea typeface="微软雅黑"/>
              </a:rPr>
              <a:t>三类关系分色 + 中文边标签；</a:t>
            </a:r>
          </a:p>
          <a:p>
            <a:pPr algn="l">
              <a:lnSpc>
                <a:spcPct val="115000"/>
              </a:lnSpc>
            </a:pPr>
            <a:r>
              <a:rPr sz="1350" b="0">
                <a:solidFill>
                  <a:srgbClr val="262626"/>
                </a:solidFill>
                <a:latin typeface="微软雅黑"/>
                <a:ea typeface="微软雅黑"/>
              </a:rPr>
              <a:t>节点大小映射难度；点击节点</a:t>
            </a:r>
          </a:p>
          <a:p>
            <a:pPr algn="l">
              <a:lnSpc>
                <a:spcPct val="115000"/>
              </a:lnSpc>
            </a:pPr>
            <a:r>
              <a:rPr sz="1350" b="0">
                <a:solidFill>
                  <a:srgbClr val="262626"/>
                </a:solidFill>
                <a:latin typeface="微软雅黑"/>
                <a:ea typeface="微软雅黑"/>
              </a:rPr>
              <a:t>弹出详情卡（定义/章节/难度/来源）。</a:t>
            </a:r>
          </a:p>
        </p:txBody>
      </p:sp>
      <p:sp>
        <p:nvSpPr>
          <p:cNvPr id="10" name="Rounded Rectangle 9"/>
          <p:cNvSpPr/>
          <p:nvPr/>
        </p:nvSpPr>
        <p:spPr>
          <a:xfrm>
            <a:off x="4361688" y="1463040"/>
            <a:ext cx="3456432" cy="22860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4507992" y="1572768"/>
            <a:ext cx="3163824"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掌握勾选</a:t>
            </a:r>
          </a:p>
        </p:txBody>
      </p:sp>
      <p:sp>
        <p:nvSpPr>
          <p:cNvPr id="12" name="TextBox 11"/>
          <p:cNvSpPr txBox="1"/>
          <p:nvPr/>
        </p:nvSpPr>
        <p:spPr>
          <a:xfrm>
            <a:off x="4507992" y="1993392"/>
            <a:ext cx="3163824" cy="164592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按章节分组的知识点清单；</a:t>
            </a:r>
          </a:p>
          <a:p>
            <a:pPr algn="l">
              <a:lnSpc>
                <a:spcPct val="115000"/>
              </a:lnSpc>
            </a:pPr>
            <a:r>
              <a:rPr sz="1350" b="0">
                <a:solidFill>
                  <a:srgbClr val="262626"/>
                </a:solidFill>
                <a:latin typeface="微软雅黑"/>
                <a:ea typeface="微软雅黑"/>
              </a:rPr>
              <a:t>勾选“已掌握”即持久化保存；</a:t>
            </a:r>
          </a:p>
          <a:p>
            <a:pPr algn="l">
              <a:lnSpc>
                <a:spcPct val="115000"/>
              </a:lnSpc>
            </a:pPr>
            <a:r>
              <a:rPr sz="1350" b="0">
                <a:solidFill>
                  <a:srgbClr val="262626"/>
                </a:solidFill>
                <a:latin typeface="微软雅黑"/>
                <a:ea typeface="微软雅黑"/>
              </a:rPr>
              <a:t>支持多课程独立进度，</a:t>
            </a:r>
          </a:p>
          <a:p>
            <a:pPr algn="l">
              <a:lnSpc>
                <a:spcPct val="115000"/>
              </a:lnSpc>
            </a:pPr>
            <a:r>
              <a:rPr sz="1350" b="0">
                <a:solidFill>
                  <a:srgbClr val="262626"/>
                </a:solidFill>
                <a:latin typeface="微软雅黑"/>
                <a:ea typeface="微软雅黑"/>
              </a:rPr>
              <a:t>互不干扰。</a:t>
            </a:r>
          </a:p>
        </p:txBody>
      </p:sp>
      <p:sp>
        <p:nvSpPr>
          <p:cNvPr id="13" name="Rounded Rectangle 12"/>
          <p:cNvSpPr/>
          <p:nvPr/>
        </p:nvSpPr>
        <p:spPr>
          <a:xfrm>
            <a:off x="8156448" y="1463040"/>
            <a:ext cx="3456432" cy="22860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4" name="TextBox 13"/>
          <p:cNvSpPr txBox="1"/>
          <p:nvPr/>
        </p:nvSpPr>
        <p:spPr>
          <a:xfrm>
            <a:off x="8302752" y="1572768"/>
            <a:ext cx="3163824"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路径推荐</a:t>
            </a:r>
          </a:p>
        </p:txBody>
      </p:sp>
      <p:sp>
        <p:nvSpPr>
          <p:cNvPr id="15" name="TextBox 14"/>
          <p:cNvSpPr txBox="1"/>
          <p:nvPr/>
        </p:nvSpPr>
        <p:spPr>
          <a:xfrm>
            <a:off x="8302752" y="1993392"/>
            <a:ext cx="3163824" cy="164592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只推荐“前置已全部掌握”的知识点；</a:t>
            </a:r>
          </a:p>
          <a:p>
            <a:pPr algn="l">
              <a:lnSpc>
                <a:spcPct val="115000"/>
              </a:lnSpc>
            </a:pPr>
            <a:r>
              <a:rPr sz="1350" b="0">
                <a:solidFill>
                  <a:srgbClr val="262626"/>
                </a:solidFill>
                <a:latin typeface="微软雅黑"/>
                <a:ea typeface="微软雅黑"/>
              </a:rPr>
              <a:t>解锁价值 / 难度 / 章节三重排序；</a:t>
            </a:r>
          </a:p>
          <a:p>
            <a:pPr algn="l">
              <a:lnSpc>
                <a:spcPct val="115000"/>
              </a:lnSpc>
            </a:pPr>
            <a:r>
              <a:rPr sz="1350" b="0">
                <a:solidFill>
                  <a:srgbClr val="262626"/>
                </a:solidFill>
                <a:latin typeface="微软雅黑"/>
                <a:ea typeface="微软雅黑"/>
              </a:rPr>
              <a:t>每条附推荐理由；</a:t>
            </a:r>
          </a:p>
          <a:p>
            <a:pPr algn="l">
              <a:lnSpc>
                <a:spcPct val="115000"/>
              </a:lnSpc>
            </a:pPr>
            <a:r>
              <a:rPr sz="1350" b="0">
                <a:solidFill>
                  <a:srgbClr val="262626"/>
                </a:solidFill>
                <a:latin typeface="微软雅黑"/>
                <a:ea typeface="微软雅黑"/>
              </a:rPr>
              <a:t>勾选后推荐列表实时刷新。</a:t>
            </a:r>
          </a:p>
        </p:txBody>
      </p:sp>
      <p:sp>
        <p:nvSpPr>
          <p:cNvPr id="16" name="Rounded Rectangle 15"/>
          <p:cNvSpPr/>
          <p:nvPr/>
        </p:nvSpPr>
        <p:spPr>
          <a:xfrm>
            <a:off x="566928" y="4069080"/>
            <a:ext cx="11292840" cy="1600200"/>
          </a:xfrm>
          <a:prstGeom prst="round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7" name="TextBox 16"/>
          <p:cNvSpPr txBox="1"/>
          <p:nvPr/>
        </p:nvSpPr>
        <p:spPr>
          <a:xfrm>
            <a:off x="841248" y="4251960"/>
            <a:ext cx="10789920" cy="1280160"/>
          </a:xfrm>
          <a:prstGeom prst="rect">
            <a:avLst/>
          </a:prstGeom>
          <a:noFill/>
        </p:spPr>
        <p:txBody>
          <a:bodyPr wrap="square" anchor="t" lIns="0" rIns="0" tIns="0" bIns="0">
            <a:spAutoFit/>
          </a:bodyPr>
          <a:lstStyle/>
          <a:p>
            <a:pPr algn="l">
              <a:lnSpc>
                <a:spcPct val="125000"/>
              </a:lnSpc>
            </a:pPr>
            <a:r>
              <a:rPr sz="1500" b="1">
                <a:solidFill>
                  <a:srgbClr val="1F4E79"/>
                </a:solidFill>
                <a:latin typeface="微软雅黑"/>
                <a:ea typeface="微软雅黑"/>
              </a:rPr>
              <a:t>设计要点</a:t>
            </a:r>
          </a:p>
          <a:p>
            <a:pPr algn="l">
              <a:lnSpc>
                <a:spcPct val="125000"/>
              </a:lnSpc>
            </a:pPr>
            <a:r>
              <a:rPr sz="1350" b="0">
                <a:solidFill>
                  <a:srgbClr val="262626"/>
                </a:solidFill>
                <a:latin typeface="微软雅黑"/>
                <a:ea typeface="微软雅黑"/>
              </a:rPr>
              <a:t>推荐算法是纯函数（O(V+E) 图遍历），行为被 4 个单元测试精确固定；“学一个 → 勾一个 → 推荐立即更新”</a:t>
            </a:r>
          </a:p>
          <a:p>
            <a:pPr algn="l">
              <a:lnSpc>
                <a:spcPct val="125000"/>
              </a:lnSpc>
            </a:pPr>
            <a:r>
              <a:rPr sz="1350" b="0">
                <a:solidFill>
                  <a:srgbClr val="262626"/>
                </a:solidFill>
                <a:latin typeface="微软雅黑"/>
                <a:ea typeface="微软雅黑"/>
              </a:rPr>
              <a:t>形成学习闭环，完全符合赛题“允许简单图遍历、不要求复杂机器学习模型”的定位。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智能问答：检索增强 + 引用先行的流式生成</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自研轻量 RAG，零向量库依赖，行为确定可测试</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07</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566928" y="1463040"/>
            <a:ext cx="2514600" cy="86868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566928" y="1591056"/>
            <a:ext cx="2514600" cy="365760"/>
          </a:xfrm>
          <a:prstGeom prst="rect">
            <a:avLst/>
          </a:prstGeom>
          <a:noFill/>
        </p:spPr>
        <p:txBody>
          <a:bodyPr wrap="square" anchor="t" lIns="0" rIns="0" tIns="0" bIns="0">
            <a:spAutoFit/>
          </a:bodyPr>
          <a:lstStyle/>
          <a:p>
            <a:pPr algn="ctr">
              <a:lnSpc>
                <a:spcPct val="112000"/>
              </a:lnSpc>
            </a:pPr>
            <a:r>
              <a:rPr sz="1500" b="1">
                <a:solidFill>
                  <a:srgbClr val="FFFFFF"/>
                </a:solidFill>
                <a:latin typeface="微软雅黑"/>
                <a:ea typeface="微软雅黑"/>
              </a:rPr>
              <a:t>学生提问</a:t>
            </a:r>
          </a:p>
        </p:txBody>
      </p:sp>
      <p:sp>
        <p:nvSpPr>
          <p:cNvPr id="9" name="TextBox 8"/>
          <p:cNvSpPr txBox="1"/>
          <p:nvPr/>
        </p:nvSpPr>
        <p:spPr>
          <a:xfrm>
            <a:off x="566928" y="1975104"/>
            <a:ext cx="2514600" cy="274320"/>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课程语料内</a:t>
            </a:r>
          </a:p>
        </p:txBody>
      </p:sp>
      <p:sp>
        <p:nvSpPr>
          <p:cNvPr id="10" name="Right Arrow 9"/>
          <p:cNvSpPr/>
          <p:nvPr/>
        </p:nvSpPr>
        <p:spPr>
          <a:xfrm>
            <a:off x="3118104" y="1773936"/>
            <a:ext cx="292608"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Rounded Rectangle 10"/>
          <p:cNvSpPr/>
          <p:nvPr/>
        </p:nvSpPr>
        <p:spPr>
          <a:xfrm>
            <a:off x="3538728" y="1463040"/>
            <a:ext cx="2514600" cy="86868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2" name="TextBox 11"/>
          <p:cNvSpPr txBox="1"/>
          <p:nvPr/>
        </p:nvSpPr>
        <p:spPr>
          <a:xfrm>
            <a:off x="3538728" y="1591056"/>
            <a:ext cx="2514600" cy="365760"/>
          </a:xfrm>
          <a:prstGeom prst="rect">
            <a:avLst/>
          </a:prstGeom>
          <a:noFill/>
        </p:spPr>
        <p:txBody>
          <a:bodyPr wrap="square" anchor="t" lIns="0" rIns="0" tIns="0" bIns="0">
            <a:spAutoFit/>
          </a:bodyPr>
          <a:lstStyle/>
          <a:p>
            <a:pPr algn="ctr">
              <a:lnSpc>
                <a:spcPct val="112000"/>
              </a:lnSpc>
            </a:pPr>
            <a:r>
              <a:rPr sz="1500" b="1">
                <a:solidFill>
                  <a:srgbClr val="FFFFFF"/>
                </a:solidFill>
                <a:latin typeface="微软雅黑"/>
                <a:ea typeface="微软雅黑"/>
              </a:rPr>
              <a:t>bigram 检索</a:t>
            </a:r>
          </a:p>
        </p:txBody>
      </p:sp>
      <p:sp>
        <p:nvSpPr>
          <p:cNvPr id="13" name="TextBox 12"/>
          <p:cNvSpPr txBox="1"/>
          <p:nvPr/>
        </p:nvSpPr>
        <p:spPr>
          <a:xfrm>
            <a:off x="3538728" y="1975104"/>
            <a:ext cx="2514600" cy="274320"/>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词频打分 Top4</a:t>
            </a:r>
          </a:p>
        </p:txBody>
      </p:sp>
      <p:sp>
        <p:nvSpPr>
          <p:cNvPr id="14" name="Right Arrow 13"/>
          <p:cNvSpPr/>
          <p:nvPr/>
        </p:nvSpPr>
        <p:spPr>
          <a:xfrm>
            <a:off x="6089904" y="1773936"/>
            <a:ext cx="292608"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5" name="Rounded Rectangle 14"/>
          <p:cNvSpPr/>
          <p:nvPr/>
        </p:nvSpPr>
        <p:spPr>
          <a:xfrm>
            <a:off x="6510528" y="1463040"/>
            <a:ext cx="2514600" cy="86868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6" name="TextBox 15"/>
          <p:cNvSpPr txBox="1"/>
          <p:nvPr/>
        </p:nvSpPr>
        <p:spPr>
          <a:xfrm>
            <a:off x="6510528" y="1591056"/>
            <a:ext cx="2514600" cy="365760"/>
          </a:xfrm>
          <a:prstGeom prst="rect">
            <a:avLst/>
          </a:prstGeom>
          <a:noFill/>
        </p:spPr>
        <p:txBody>
          <a:bodyPr wrap="square" anchor="t" lIns="0" rIns="0" tIns="0" bIns="0">
            <a:spAutoFit/>
          </a:bodyPr>
          <a:lstStyle/>
          <a:p>
            <a:pPr algn="ctr">
              <a:lnSpc>
                <a:spcPct val="112000"/>
              </a:lnSpc>
            </a:pPr>
            <a:r>
              <a:rPr sz="1500" b="1">
                <a:solidFill>
                  <a:srgbClr val="FFFFFF"/>
                </a:solidFill>
                <a:latin typeface="微软雅黑"/>
                <a:ea typeface="微软雅黑"/>
              </a:rPr>
              <a:t>流式生成</a:t>
            </a:r>
          </a:p>
        </p:txBody>
      </p:sp>
      <p:sp>
        <p:nvSpPr>
          <p:cNvPr id="17" name="TextBox 16"/>
          <p:cNvSpPr txBox="1"/>
          <p:nvPr/>
        </p:nvSpPr>
        <p:spPr>
          <a:xfrm>
            <a:off x="6510528" y="1975104"/>
            <a:ext cx="2514600" cy="274320"/>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只依据教材</a:t>
            </a:r>
          </a:p>
        </p:txBody>
      </p:sp>
      <p:sp>
        <p:nvSpPr>
          <p:cNvPr id="18" name="Right Arrow 17"/>
          <p:cNvSpPr/>
          <p:nvPr/>
        </p:nvSpPr>
        <p:spPr>
          <a:xfrm>
            <a:off x="9061704" y="1773936"/>
            <a:ext cx="292608" cy="237744"/>
          </a:xfrm>
          <a:prstGeom prst="rightArrow">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9" name="Rounded Rectangle 18"/>
          <p:cNvSpPr/>
          <p:nvPr/>
        </p:nvSpPr>
        <p:spPr>
          <a:xfrm>
            <a:off x="9482328" y="1463040"/>
            <a:ext cx="2514600" cy="86868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0" name="TextBox 19"/>
          <p:cNvSpPr txBox="1"/>
          <p:nvPr/>
        </p:nvSpPr>
        <p:spPr>
          <a:xfrm>
            <a:off x="9482328" y="1591056"/>
            <a:ext cx="2514600" cy="365760"/>
          </a:xfrm>
          <a:prstGeom prst="rect">
            <a:avLst/>
          </a:prstGeom>
          <a:noFill/>
        </p:spPr>
        <p:txBody>
          <a:bodyPr wrap="square" anchor="t" lIns="0" rIns="0" tIns="0" bIns="0">
            <a:spAutoFit/>
          </a:bodyPr>
          <a:lstStyle/>
          <a:p>
            <a:pPr algn="ctr">
              <a:lnSpc>
                <a:spcPct val="112000"/>
              </a:lnSpc>
            </a:pPr>
            <a:r>
              <a:rPr sz="1500" b="1">
                <a:solidFill>
                  <a:srgbClr val="FFFFFF"/>
                </a:solidFill>
                <a:latin typeface="微软雅黑"/>
                <a:ea typeface="微软雅黑"/>
              </a:rPr>
              <a:t>引用标注</a:t>
            </a:r>
          </a:p>
        </p:txBody>
      </p:sp>
      <p:sp>
        <p:nvSpPr>
          <p:cNvPr id="21" name="TextBox 20"/>
          <p:cNvSpPr txBox="1"/>
          <p:nvPr/>
        </p:nvSpPr>
        <p:spPr>
          <a:xfrm>
            <a:off x="9482328" y="1975104"/>
            <a:ext cx="2514600" cy="274320"/>
          </a:xfrm>
          <a:prstGeom prst="rect">
            <a:avLst/>
          </a:prstGeom>
          <a:noFill/>
        </p:spPr>
        <p:txBody>
          <a:bodyPr wrap="square" anchor="t" lIns="0" rIns="0" tIns="0" bIns="0">
            <a:spAutoFit/>
          </a:bodyPr>
          <a:lstStyle/>
          <a:p>
            <a:pPr algn="ctr">
              <a:lnSpc>
                <a:spcPct val="112000"/>
              </a:lnSpc>
            </a:pPr>
            <a:r>
              <a:rPr sz="1100" b="0">
                <a:solidFill>
                  <a:srgbClr val="FFFFFF"/>
                </a:solidFill>
                <a:latin typeface="微软雅黑"/>
                <a:ea typeface="微软雅黑"/>
              </a:rPr>
              <a:t>章节+片段</a:t>
            </a:r>
          </a:p>
        </p:txBody>
      </p:sp>
      <p:sp>
        <p:nvSpPr>
          <p:cNvPr id="22" name="Rounded Rectangle 21"/>
          <p:cNvSpPr/>
          <p:nvPr/>
        </p:nvSpPr>
        <p:spPr>
          <a:xfrm>
            <a:off x="566928" y="2697480"/>
            <a:ext cx="5486400" cy="32004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3" name="TextBox 22"/>
          <p:cNvSpPr txBox="1"/>
          <p:nvPr/>
        </p:nvSpPr>
        <p:spPr>
          <a:xfrm>
            <a:off x="713232" y="280720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检索算法（中文友好，零外部依赖）</a:t>
            </a:r>
          </a:p>
        </p:txBody>
      </p:sp>
      <p:sp>
        <p:nvSpPr>
          <p:cNvPr id="24" name="TextBox 23"/>
          <p:cNvSpPr txBox="1"/>
          <p:nvPr/>
        </p:nvSpPr>
        <p:spPr>
          <a:xfrm>
            <a:off x="713232" y="3227832"/>
            <a:ext cx="5193792" cy="256032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 中文按相邻双字（bigram）分词，英文按单词；</a:t>
            </a:r>
          </a:p>
          <a:p>
            <a:pPr algn="l">
              <a:lnSpc>
                <a:spcPct val="115000"/>
              </a:lnSpc>
            </a:pPr>
            <a:r>
              <a:rPr sz="1350" b="0">
                <a:solidFill>
                  <a:srgbClr val="262626"/>
                </a:solidFill>
                <a:latin typeface="微软雅黑"/>
                <a:ea typeface="微软雅黑"/>
              </a:rPr>
              <a:t>  “循环链表”生成“循环/环链/链表”，无需词典</a:t>
            </a:r>
          </a:p>
          <a:p>
            <a:pPr algn="l">
              <a:lnSpc>
                <a:spcPct val="115000"/>
              </a:lnSpc>
            </a:pPr>
            <a:r>
              <a:rPr sz="1350" b="0">
                <a:solidFill>
                  <a:srgbClr val="262626"/>
                </a:solidFill>
                <a:latin typeface="微软雅黑"/>
                <a:ea typeface="微软雅黑"/>
              </a:rPr>
              <a:t>• 命中计 1+ln(词频)，章节名命中额外加成</a:t>
            </a:r>
          </a:p>
          <a:p>
            <a:pPr algn="l">
              <a:lnSpc>
                <a:spcPct val="115000"/>
              </a:lnSpc>
            </a:pPr>
            <a:r>
              <a:rPr sz="1350" b="0">
                <a:solidFill>
                  <a:srgbClr val="262626"/>
                </a:solidFill>
                <a:latin typeface="微软雅黑"/>
                <a:ea typeface="微软雅黑"/>
              </a:rPr>
              <a:t>• 单字命中作低权重兜底信号（措辞不一致时防漏召回）</a:t>
            </a:r>
          </a:p>
          <a:p>
            <a:pPr algn="l">
              <a:lnSpc>
                <a:spcPct val="115000"/>
              </a:lnSpc>
            </a:pPr>
            <a:r>
              <a:rPr sz="1350" b="0">
                <a:solidFill>
                  <a:srgbClr val="262626"/>
                </a:solidFill>
                <a:latin typeface="微软雅黑"/>
                <a:ea typeface="微软雅黑"/>
              </a:rPr>
              <a:t>• 总分按查询词数平方根归一化，取 Top4 为上下文</a:t>
            </a:r>
          </a:p>
          <a:p>
            <a:pPr algn="l">
              <a:lnSpc>
                <a:spcPct val="115000"/>
              </a:lnSpc>
            </a:pPr>
            <a:r>
              <a:rPr sz="1350" b="0">
                <a:solidFill>
                  <a:srgbClr val="262626"/>
                </a:solidFill>
                <a:latin typeface="微软雅黑"/>
                <a:ea typeface="微软雅黑"/>
              </a:rPr>
              <a:t>• 全部零分仍回退 Top4，让模型能答“教材未涉及”</a:t>
            </a:r>
          </a:p>
        </p:txBody>
      </p:sp>
      <p:sp>
        <p:nvSpPr>
          <p:cNvPr id="25" name="Rounded Rectangle 24"/>
          <p:cNvSpPr/>
          <p:nvPr/>
        </p:nvSpPr>
        <p:spPr>
          <a:xfrm>
            <a:off x="6355080" y="2697480"/>
            <a:ext cx="5486400" cy="32004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6" name="TextBox 25"/>
          <p:cNvSpPr txBox="1"/>
          <p:nvPr/>
        </p:nvSpPr>
        <p:spPr>
          <a:xfrm>
            <a:off x="6501384" y="280720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防幻觉与可溯源</a:t>
            </a:r>
          </a:p>
        </p:txBody>
      </p:sp>
      <p:sp>
        <p:nvSpPr>
          <p:cNvPr id="27" name="TextBox 26"/>
          <p:cNvSpPr txBox="1"/>
          <p:nvPr/>
        </p:nvSpPr>
        <p:spPr>
          <a:xfrm>
            <a:off x="6501384" y="3227832"/>
            <a:ext cx="5193792" cy="256032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 系统提示词强约束：只依据教材内容回答，</a:t>
            </a:r>
          </a:p>
          <a:p>
            <a:pPr algn="l">
              <a:lnSpc>
                <a:spcPct val="115000"/>
              </a:lnSpc>
            </a:pPr>
            <a:r>
              <a:rPr sz="1350" b="0">
                <a:solidFill>
                  <a:srgbClr val="262626"/>
                </a:solidFill>
                <a:latin typeface="微软雅黑"/>
                <a:ea typeface="微软雅黑"/>
              </a:rPr>
              <a:t>  教材未涉及则明确拒答，结尾标注参考章节</a:t>
            </a:r>
          </a:p>
          <a:p>
            <a:pPr algn="l">
              <a:lnSpc>
                <a:spcPct val="115000"/>
              </a:lnSpc>
            </a:pPr>
            <a:r>
              <a:rPr sz="1350" b="0">
                <a:solidFill>
                  <a:srgbClr val="262626"/>
                </a:solidFill>
                <a:latin typeface="微软雅黑"/>
                <a:ea typeface="微软雅黑"/>
              </a:rPr>
              <a:t>• 引用数据部件先于正文返回：“参考章节”徽标</a:t>
            </a:r>
          </a:p>
          <a:p>
            <a:pPr algn="l">
              <a:lnSpc>
                <a:spcPct val="115000"/>
              </a:lnSpc>
            </a:pPr>
            <a:r>
              <a:rPr sz="1350" b="0">
                <a:solidFill>
                  <a:srgbClr val="262626"/>
                </a:solidFill>
                <a:latin typeface="微软雅黑"/>
                <a:ea typeface="微软雅黑"/>
              </a:rPr>
              <a:t>  即刻出现，正文随后流式呈现，感知延迟低</a:t>
            </a:r>
          </a:p>
          <a:p>
            <a:pPr algn="l">
              <a:lnSpc>
                <a:spcPct val="115000"/>
              </a:lnSpc>
            </a:pPr>
            <a:r>
              <a:rPr sz="1350" b="0">
                <a:solidFill>
                  <a:srgbClr val="262626"/>
                </a:solidFill>
                <a:latin typeface="微软雅黑"/>
                <a:ea typeface="微软雅黑"/>
              </a:rPr>
              <a:t>• 引用片段（120 字摘要）可展开核对教材原文</a:t>
            </a:r>
          </a:p>
          <a:p>
            <a:pPr algn="l">
              <a:lnSpc>
                <a:spcPct val="115000"/>
              </a:lnSpc>
            </a:pPr>
            <a:r>
              <a:rPr sz="1350" b="0">
                <a:solidFill>
                  <a:srgbClr val="262626"/>
                </a:solidFill>
                <a:latin typeface="微软雅黑"/>
                <a:ea typeface="微软雅黑"/>
              </a:rPr>
              <a:t>• 离线模式返回教材原句摘录式回答；模型调用失败</a:t>
            </a:r>
          </a:p>
          <a:p>
            <a:pPr algn="l">
              <a:lnSpc>
                <a:spcPct val="115000"/>
              </a:lnSpc>
            </a:pPr>
            <a:r>
              <a:rPr sz="1350" b="0">
                <a:solidFill>
                  <a:srgbClr val="262626"/>
                </a:solidFill>
                <a:latin typeface="微软雅黑"/>
                <a:ea typeface="微软雅黑"/>
              </a:rPr>
              <a:t>  自动降级离线回答，问答功能永不中断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技术亮点</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四个“评审友好”的工程决策</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08</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566928" y="1463040"/>
            <a:ext cx="5486400" cy="210312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713232" y="157276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双引擎图存储自动降级</a:t>
            </a:r>
          </a:p>
        </p:txBody>
      </p:sp>
      <p:sp>
        <p:nvSpPr>
          <p:cNvPr id="9" name="TextBox 8"/>
          <p:cNvSpPr txBox="1"/>
          <p:nvPr/>
        </p:nvSpPr>
        <p:spPr>
          <a:xfrm>
            <a:off x="713232" y="1993392"/>
            <a:ext cx="5193792" cy="146304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GraphStore 接口 14 方法，</a:t>
            </a:r>
          </a:p>
          <a:p>
            <a:pPr algn="l">
              <a:lnSpc>
                <a:spcPct val="115000"/>
              </a:lnSpc>
            </a:pPr>
            <a:r>
              <a:rPr sz="1350" b="0">
                <a:solidFill>
                  <a:srgbClr val="262626"/>
                </a:solidFill>
                <a:latin typeface="微软雅黑"/>
                <a:ea typeface="微软雅黑"/>
              </a:rPr>
              <a:t>Neo4j 与 JSON 文件双实现；</a:t>
            </a:r>
          </a:p>
          <a:p>
            <a:pPr algn="l">
              <a:lnSpc>
                <a:spcPct val="115000"/>
              </a:lnSpc>
            </a:pPr>
            <a:r>
              <a:rPr sz="1350" b="0">
                <a:solidFill>
                  <a:srgbClr val="262626"/>
                </a:solidFill>
                <a:latin typeface="微软雅黑"/>
                <a:ea typeface="微软雅黑"/>
              </a:rPr>
              <a:t>auto 模式连通性探测失败</a:t>
            </a:r>
          </a:p>
          <a:p>
            <a:pPr algn="l">
              <a:lnSpc>
                <a:spcPct val="115000"/>
              </a:lnSpc>
            </a:pPr>
            <a:r>
              <a:rPr sz="1350" b="0">
                <a:solidFill>
                  <a:srgbClr val="262626"/>
                </a:solidFill>
                <a:latin typeface="微软雅黑"/>
                <a:ea typeface="微软雅黑"/>
              </a:rPr>
              <a:t>自动降级，业务层零感知。</a:t>
            </a:r>
          </a:p>
        </p:txBody>
      </p:sp>
      <p:sp>
        <p:nvSpPr>
          <p:cNvPr id="10" name="Rounded Rectangle 9"/>
          <p:cNvSpPr/>
          <p:nvPr/>
        </p:nvSpPr>
        <p:spPr>
          <a:xfrm>
            <a:off x="6355080" y="1463040"/>
            <a:ext cx="5486400" cy="210312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6501384" y="157276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零依赖中文 RAG</a:t>
            </a:r>
          </a:p>
        </p:txBody>
      </p:sp>
      <p:sp>
        <p:nvSpPr>
          <p:cNvPr id="12" name="TextBox 11"/>
          <p:cNvSpPr txBox="1"/>
          <p:nvPr/>
        </p:nvSpPr>
        <p:spPr>
          <a:xfrm>
            <a:off x="6501384" y="1993392"/>
            <a:ext cx="5193792" cy="146304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bigram+单字词频检索替代</a:t>
            </a:r>
          </a:p>
          <a:p>
            <a:pPr algn="l">
              <a:lnSpc>
                <a:spcPct val="115000"/>
              </a:lnSpc>
            </a:pPr>
            <a:r>
              <a:rPr sz="1350" b="0">
                <a:solidFill>
                  <a:srgbClr val="262626"/>
                </a:solidFill>
                <a:latin typeface="微软雅黑"/>
                <a:ea typeface="微软雅黑"/>
              </a:rPr>
              <a:t>向量库；中文召回经测试集</a:t>
            </a:r>
          </a:p>
          <a:p>
            <a:pPr algn="l">
              <a:lnSpc>
                <a:spcPct val="115000"/>
              </a:lnSpc>
            </a:pPr>
            <a:r>
              <a:rPr sz="1350" b="0">
                <a:solidFill>
                  <a:srgbClr val="262626"/>
                </a:solidFill>
                <a:latin typeface="微软雅黑"/>
                <a:ea typeface="微软雅黑"/>
              </a:rPr>
              <a:t>验证；行为完全确定，</a:t>
            </a:r>
          </a:p>
          <a:p>
            <a:pPr algn="l">
              <a:lnSpc>
                <a:spcPct val="115000"/>
              </a:lnSpc>
            </a:pPr>
            <a:r>
              <a:rPr sz="1350" b="0">
                <a:solidFill>
                  <a:srgbClr val="262626"/>
                </a:solidFill>
                <a:latin typeface="微软雅黑"/>
                <a:ea typeface="微软雅黑"/>
              </a:rPr>
              <a:t>6 个专项单元测试固化。</a:t>
            </a:r>
          </a:p>
        </p:txBody>
      </p:sp>
      <p:sp>
        <p:nvSpPr>
          <p:cNvPr id="13" name="Rounded Rectangle 12"/>
          <p:cNvSpPr/>
          <p:nvPr/>
        </p:nvSpPr>
        <p:spPr>
          <a:xfrm>
            <a:off x="566928" y="3794760"/>
            <a:ext cx="5486400" cy="210312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4" name="TextBox 13"/>
          <p:cNvSpPr txBox="1"/>
          <p:nvPr/>
        </p:nvSpPr>
        <p:spPr>
          <a:xfrm>
            <a:off x="713232" y="390448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引用先行流式问答</a:t>
            </a:r>
          </a:p>
        </p:txBody>
      </p:sp>
      <p:sp>
        <p:nvSpPr>
          <p:cNvPr id="15" name="TextBox 14"/>
          <p:cNvSpPr txBox="1"/>
          <p:nvPr/>
        </p:nvSpPr>
        <p:spPr>
          <a:xfrm>
            <a:off x="713232" y="4325112"/>
            <a:ext cx="5193792" cy="146304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参考章节与引用片段先于</a:t>
            </a:r>
          </a:p>
          <a:p>
            <a:pPr algn="l">
              <a:lnSpc>
                <a:spcPct val="115000"/>
              </a:lnSpc>
            </a:pPr>
            <a:r>
              <a:rPr sz="1350" b="0">
                <a:solidFill>
                  <a:srgbClr val="262626"/>
                </a:solidFill>
                <a:latin typeface="微软雅黑"/>
                <a:ea typeface="微软雅黑"/>
              </a:rPr>
              <a:t>正文到达前端，可溯源、</a:t>
            </a:r>
          </a:p>
          <a:p>
            <a:pPr algn="l">
              <a:lnSpc>
                <a:spcPct val="115000"/>
              </a:lnSpc>
            </a:pPr>
            <a:r>
              <a:rPr sz="1350" b="0">
                <a:solidFill>
                  <a:srgbClr val="262626"/>
                </a:solidFill>
                <a:latin typeface="微软雅黑"/>
                <a:ea typeface="微软雅黑"/>
              </a:rPr>
              <a:t>抗幻觉；流式输出显著</a:t>
            </a:r>
          </a:p>
          <a:p>
            <a:pPr algn="l">
              <a:lnSpc>
                <a:spcPct val="115000"/>
              </a:lnSpc>
            </a:pPr>
            <a:r>
              <a:rPr sz="1350" b="0">
                <a:solidFill>
                  <a:srgbClr val="262626"/>
                </a:solidFill>
                <a:latin typeface="微软雅黑"/>
                <a:ea typeface="微软雅黑"/>
              </a:rPr>
              <a:t>降低感知延迟。</a:t>
            </a:r>
          </a:p>
        </p:txBody>
      </p:sp>
      <p:sp>
        <p:nvSpPr>
          <p:cNvPr id="16" name="Rounded Rectangle 15"/>
          <p:cNvSpPr/>
          <p:nvPr/>
        </p:nvSpPr>
        <p:spPr>
          <a:xfrm>
            <a:off x="6355080" y="3794760"/>
            <a:ext cx="5486400" cy="210312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7" name="TextBox 16"/>
          <p:cNvSpPr txBox="1"/>
          <p:nvPr/>
        </p:nvSpPr>
        <p:spPr>
          <a:xfrm>
            <a:off x="6501384" y="390448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离线演示模式一等公民</a:t>
            </a:r>
          </a:p>
        </p:txBody>
      </p:sp>
      <p:sp>
        <p:nvSpPr>
          <p:cNvPr id="18" name="TextBox 17"/>
          <p:cNvSpPr txBox="1"/>
          <p:nvPr/>
        </p:nvSpPr>
        <p:spPr>
          <a:xfrm>
            <a:off x="6501384" y="4325112"/>
            <a:ext cx="5193792" cy="146304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无 Key 时内置《数据结构》</a:t>
            </a:r>
          </a:p>
          <a:p>
            <a:pPr algn="l">
              <a:lnSpc>
                <a:spcPct val="115000"/>
              </a:lnSpc>
            </a:pPr>
            <a:r>
              <a:rPr sz="1350" b="0">
                <a:solidFill>
                  <a:srgbClr val="262626"/>
                </a:solidFill>
                <a:latin typeface="微软雅黑"/>
                <a:ea typeface="微软雅黑"/>
              </a:rPr>
              <a:t>演示数据集（37 知识点/</a:t>
            </a:r>
          </a:p>
          <a:p>
            <a:pPr algn="l">
              <a:lnSpc>
                <a:spcPct val="115000"/>
              </a:lnSpc>
            </a:pPr>
            <a:r>
              <a:rPr sz="1350" b="0">
                <a:solidFill>
                  <a:srgbClr val="262626"/>
                </a:solidFill>
                <a:latin typeface="微软雅黑"/>
                <a:ea typeface="微软雅黑"/>
              </a:rPr>
              <a:t>51 关系）全流程可演示；</a:t>
            </a:r>
          </a:p>
          <a:p>
            <a:pPr algn="l">
              <a:lnSpc>
                <a:spcPct val="115000"/>
              </a:lnSpc>
            </a:pPr>
            <a:r>
              <a:rPr sz="1350" b="0">
                <a:solidFill>
                  <a:srgbClr val="262626"/>
                </a:solidFill>
                <a:latin typeface="微软雅黑"/>
                <a:ea typeface="微软雅黑"/>
              </a:rPr>
              <a:t>demoMode 标志明示数据来源。</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测试与质量保障</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测试驱动开发：曾暴露并修复 3 个真实缺陷</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09</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566928" y="1463040"/>
            <a:ext cx="3456432" cy="27432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566928" y="1645920"/>
            <a:ext cx="3456432" cy="731520"/>
          </a:xfrm>
          <a:prstGeom prst="rect">
            <a:avLst/>
          </a:prstGeom>
          <a:noFill/>
        </p:spPr>
        <p:txBody>
          <a:bodyPr wrap="square" anchor="t" lIns="0" rIns="0" tIns="0" bIns="0">
            <a:spAutoFit/>
          </a:bodyPr>
          <a:lstStyle/>
          <a:p>
            <a:pPr algn="ctr">
              <a:lnSpc>
                <a:spcPct val="112000"/>
              </a:lnSpc>
            </a:pPr>
            <a:r>
              <a:rPr sz="4000" b="1">
                <a:solidFill>
                  <a:srgbClr val="2E75B6"/>
                </a:solidFill>
                <a:latin typeface="微软雅黑"/>
                <a:ea typeface="微软雅黑"/>
              </a:rPr>
              <a:t>18</a:t>
            </a:r>
          </a:p>
        </p:txBody>
      </p:sp>
      <p:sp>
        <p:nvSpPr>
          <p:cNvPr id="9" name="TextBox 8"/>
          <p:cNvSpPr txBox="1"/>
          <p:nvPr/>
        </p:nvSpPr>
        <p:spPr>
          <a:xfrm>
            <a:off x="566928" y="2395728"/>
            <a:ext cx="3456432" cy="365760"/>
          </a:xfrm>
          <a:prstGeom prst="rect">
            <a:avLst/>
          </a:prstGeom>
          <a:noFill/>
        </p:spPr>
        <p:txBody>
          <a:bodyPr wrap="square" anchor="t" lIns="0" rIns="0" tIns="0" bIns="0">
            <a:spAutoFit/>
          </a:bodyPr>
          <a:lstStyle/>
          <a:p>
            <a:pPr algn="ctr">
              <a:lnSpc>
                <a:spcPct val="112000"/>
              </a:lnSpc>
            </a:pPr>
            <a:r>
              <a:rPr sz="1500" b="1">
                <a:solidFill>
                  <a:srgbClr val="1F4E79"/>
                </a:solidFill>
                <a:latin typeface="微软雅黑"/>
                <a:ea typeface="微软雅黑"/>
              </a:rPr>
              <a:t>单元测试全绿</a:t>
            </a:r>
          </a:p>
        </p:txBody>
      </p:sp>
      <p:sp>
        <p:nvSpPr>
          <p:cNvPr id="10" name="TextBox 9"/>
          <p:cNvSpPr txBox="1"/>
          <p:nvPr/>
        </p:nvSpPr>
        <p:spPr>
          <a:xfrm>
            <a:off x="795528" y="2834640"/>
            <a:ext cx="2999232" cy="1280160"/>
          </a:xfrm>
          <a:prstGeom prst="rect">
            <a:avLst/>
          </a:prstGeom>
          <a:noFill/>
        </p:spPr>
        <p:txBody>
          <a:bodyPr wrap="square" anchor="t" lIns="0" rIns="0" tIns="0" bIns="0">
            <a:spAutoFit/>
          </a:bodyPr>
          <a:lstStyle/>
          <a:p>
            <a:pPr algn="ctr">
              <a:lnSpc>
                <a:spcPct val="120000"/>
              </a:lnSpc>
            </a:pPr>
            <a:r>
              <a:rPr sz="1300" b="0">
                <a:solidFill>
                  <a:srgbClr val="262626"/>
                </a:solidFill>
                <a:latin typeface="微软雅黑"/>
                <a:ea typeface="微软雅黑"/>
              </a:rPr>
              <a:t>解析/清洗/切块 8 例</a:t>
            </a:r>
          </a:p>
          <a:p>
            <a:pPr algn="ctr">
              <a:lnSpc>
                <a:spcPct val="120000"/>
              </a:lnSpc>
            </a:pPr>
            <a:r>
              <a:rPr sz="1300" b="0">
                <a:solidFill>
                  <a:srgbClr val="262626"/>
                </a:solidFill>
                <a:latin typeface="微软雅黑"/>
                <a:ea typeface="微软雅黑"/>
              </a:rPr>
              <a:t>检索/引用/兜底 6 例</a:t>
            </a:r>
          </a:p>
          <a:p>
            <a:pPr algn="ctr">
              <a:lnSpc>
                <a:spcPct val="120000"/>
              </a:lnSpc>
            </a:pPr>
            <a:r>
              <a:rPr sz="1300" b="0">
                <a:solidFill>
                  <a:srgbClr val="262626"/>
                </a:solidFill>
                <a:latin typeface="微软雅黑"/>
                <a:ea typeface="微软雅黑"/>
              </a:rPr>
              <a:t>路径推荐算法 4 例</a:t>
            </a:r>
          </a:p>
        </p:txBody>
      </p:sp>
      <p:sp>
        <p:nvSpPr>
          <p:cNvPr id="11" name="Rounded Rectangle 10"/>
          <p:cNvSpPr/>
          <p:nvPr/>
        </p:nvSpPr>
        <p:spPr>
          <a:xfrm>
            <a:off x="4361688" y="1463040"/>
            <a:ext cx="3456432" cy="27432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2" name="TextBox 11"/>
          <p:cNvSpPr txBox="1"/>
          <p:nvPr/>
        </p:nvSpPr>
        <p:spPr>
          <a:xfrm>
            <a:off x="4361688" y="1645920"/>
            <a:ext cx="3456432" cy="731520"/>
          </a:xfrm>
          <a:prstGeom prst="rect">
            <a:avLst/>
          </a:prstGeom>
          <a:noFill/>
        </p:spPr>
        <p:txBody>
          <a:bodyPr wrap="square" anchor="t" lIns="0" rIns="0" tIns="0" bIns="0">
            <a:spAutoFit/>
          </a:bodyPr>
          <a:lstStyle/>
          <a:p>
            <a:pPr algn="ctr">
              <a:lnSpc>
                <a:spcPct val="112000"/>
              </a:lnSpc>
            </a:pPr>
            <a:r>
              <a:rPr sz="4000" b="1">
                <a:solidFill>
                  <a:srgbClr val="2E75B6"/>
                </a:solidFill>
                <a:latin typeface="微软雅黑"/>
                <a:ea typeface="微软雅黑"/>
              </a:rPr>
              <a:t>7</a:t>
            </a:r>
          </a:p>
        </p:txBody>
      </p:sp>
      <p:sp>
        <p:nvSpPr>
          <p:cNvPr id="13" name="TextBox 12"/>
          <p:cNvSpPr txBox="1"/>
          <p:nvPr/>
        </p:nvSpPr>
        <p:spPr>
          <a:xfrm>
            <a:off x="4361688" y="2395728"/>
            <a:ext cx="3456432" cy="365760"/>
          </a:xfrm>
          <a:prstGeom prst="rect">
            <a:avLst/>
          </a:prstGeom>
          <a:noFill/>
        </p:spPr>
        <p:txBody>
          <a:bodyPr wrap="square" anchor="t" lIns="0" rIns="0" tIns="0" bIns="0">
            <a:spAutoFit/>
          </a:bodyPr>
          <a:lstStyle/>
          <a:p>
            <a:pPr algn="ctr">
              <a:lnSpc>
                <a:spcPct val="112000"/>
              </a:lnSpc>
            </a:pPr>
            <a:r>
              <a:rPr sz="1500" b="1">
                <a:solidFill>
                  <a:srgbClr val="1F4E79"/>
                </a:solidFill>
                <a:latin typeface="微软雅黑"/>
                <a:ea typeface="微软雅黑"/>
              </a:rPr>
              <a:t>端到端场景全绿</a:t>
            </a:r>
          </a:p>
        </p:txBody>
      </p:sp>
      <p:sp>
        <p:nvSpPr>
          <p:cNvPr id="14" name="TextBox 13"/>
          <p:cNvSpPr txBox="1"/>
          <p:nvPr/>
        </p:nvSpPr>
        <p:spPr>
          <a:xfrm>
            <a:off x="4590288" y="2834640"/>
            <a:ext cx="2999232" cy="1280160"/>
          </a:xfrm>
          <a:prstGeom prst="rect">
            <a:avLst/>
          </a:prstGeom>
          <a:noFill/>
        </p:spPr>
        <p:txBody>
          <a:bodyPr wrap="square" anchor="t" lIns="0" rIns="0" tIns="0" bIns="0">
            <a:spAutoFit/>
          </a:bodyPr>
          <a:lstStyle/>
          <a:p>
            <a:pPr algn="ctr">
              <a:lnSpc>
                <a:spcPct val="120000"/>
              </a:lnSpc>
            </a:pPr>
            <a:r>
              <a:rPr sz="1300" b="0">
                <a:solidFill>
                  <a:srgbClr val="262626"/>
                </a:solidFill>
                <a:latin typeface="微软雅黑"/>
                <a:ea typeface="微软雅黑"/>
              </a:rPr>
              <a:t>教师建图 → 学生浏览 →</a:t>
            </a:r>
          </a:p>
          <a:p>
            <a:pPr algn="ctr">
              <a:lnSpc>
                <a:spcPct val="120000"/>
              </a:lnSpc>
            </a:pPr>
            <a:r>
              <a:rPr sz="1300" b="0">
                <a:solidFill>
                  <a:srgbClr val="262626"/>
                </a:solidFill>
                <a:latin typeface="微软雅黑"/>
                <a:ea typeface="微软雅黑"/>
              </a:rPr>
              <a:t>掌握勾选 → 路径推荐 →</a:t>
            </a:r>
          </a:p>
          <a:p>
            <a:pPr algn="ctr">
              <a:lnSpc>
                <a:spcPct val="120000"/>
              </a:lnSpc>
            </a:pPr>
            <a:r>
              <a:rPr sz="1300" b="0">
                <a:solidFill>
                  <a:srgbClr val="262626"/>
                </a:solidFill>
                <a:latin typeface="微软雅黑"/>
                <a:ea typeface="微软雅黑"/>
              </a:rPr>
              <a:t>问答引用 → 图谱修正 → 多课程</a:t>
            </a:r>
          </a:p>
        </p:txBody>
      </p:sp>
      <p:sp>
        <p:nvSpPr>
          <p:cNvPr id="15" name="Rounded Rectangle 14"/>
          <p:cNvSpPr/>
          <p:nvPr/>
        </p:nvSpPr>
        <p:spPr>
          <a:xfrm>
            <a:off x="8156448" y="1463040"/>
            <a:ext cx="3456432" cy="27432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6" name="TextBox 15"/>
          <p:cNvSpPr txBox="1"/>
          <p:nvPr/>
        </p:nvSpPr>
        <p:spPr>
          <a:xfrm>
            <a:off x="8156448" y="1645920"/>
            <a:ext cx="3456432" cy="731520"/>
          </a:xfrm>
          <a:prstGeom prst="rect">
            <a:avLst/>
          </a:prstGeom>
          <a:noFill/>
        </p:spPr>
        <p:txBody>
          <a:bodyPr wrap="square" anchor="t" lIns="0" rIns="0" tIns="0" bIns="0">
            <a:spAutoFit/>
          </a:bodyPr>
          <a:lstStyle/>
          <a:p>
            <a:pPr algn="ctr">
              <a:lnSpc>
                <a:spcPct val="112000"/>
              </a:lnSpc>
            </a:pPr>
            <a:r>
              <a:rPr sz="4000" b="1">
                <a:solidFill>
                  <a:srgbClr val="2E75B6"/>
                </a:solidFill>
                <a:latin typeface="微软雅黑"/>
                <a:ea typeface="微软雅黑"/>
              </a:rPr>
              <a:t>15</a:t>
            </a:r>
          </a:p>
        </p:txBody>
      </p:sp>
      <p:sp>
        <p:nvSpPr>
          <p:cNvPr id="17" name="TextBox 16"/>
          <p:cNvSpPr txBox="1"/>
          <p:nvPr/>
        </p:nvSpPr>
        <p:spPr>
          <a:xfrm>
            <a:off x="8156448" y="2395728"/>
            <a:ext cx="3456432" cy="365760"/>
          </a:xfrm>
          <a:prstGeom prst="rect">
            <a:avLst/>
          </a:prstGeom>
          <a:noFill/>
        </p:spPr>
        <p:txBody>
          <a:bodyPr wrap="square" anchor="t" lIns="0" rIns="0" tIns="0" bIns="0">
            <a:spAutoFit/>
          </a:bodyPr>
          <a:lstStyle/>
          <a:p>
            <a:pPr algn="ctr">
              <a:lnSpc>
                <a:spcPct val="112000"/>
              </a:lnSpc>
            </a:pPr>
            <a:r>
              <a:rPr sz="1500" b="1">
                <a:solidFill>
                  <a:srgbClr val="1F4E79"/>
                </a:solidFill>
                <a:latin typeface="微软雅黑"/>
                <a:ea typeface="微软雅黑"/>
              </a:rPr>
              <a:t>生产构建路由零错误</a:t>
            </a:r>
          </a:p>
        </p:txBody>
      </p:sp>
      <p:sp>
        <p:nvSpPr>
          <p:cNvPr id="18" name="TextBox 17"/>
          <p:cNvSpPr txBox="1"/>
          <p:nvPr/>
        </p:nvSpPr>
        <p:spPr>
          <a:xfrm>
            <a:off x="8385048" y="2834640"/>
            <a:ext cx="2999232" cy="1280160"/>
          </a:xfrm>
          <a:prstGeom prst="rect">
            <a:avLst/>
          </a:prstGeom>
          <a:noFill/>
        </p:spPr>
        <p:txBody>
          <a:bodyPr wrap="square" anchor="t" lIns="0" rIns="0" tIns="0" bIns="0">
            <a:spAutoFit/>
          </a:bodyPr>
          <a:lstStyle/>
          <a:p>
            <a:pPr algn="ctr">
              <a:lnSpc>
                <a:spcPct val="120000"/>
              </a:lnSpc>
            </a:pPr>
            <a:r>
              <a:rPr sz="1300" b="0">
                <a:solidFill>
                  <a:srgbClr val="262626"/>
                </a:solidFill>
                <a:latin typeface="微软雅黑"/>
                <a:ea typeface="微软雅黑"/>
              </a:rPr>
              <a:t>typecheck ✓</a:t>
            </a:r>
          </a:p>
          <a:p>
            <a:pPr algn="ctr">
              <a:lnSpc>
                <a:spcPct val="120000"/>
              </a:lnSpc>
            </a:pPr>
            <a:r>
              <a:rPr sz="1300" b="0">
                <a:solidFill>
                  <a:srgbClr val="262626"/>
                </a:solidFill>
                <a:latin typeface="微软雅黑"/>
                <a:ea typeface="微软雅黑"/>
              </a:rPr>
              <a:t>next build ✓</a:t>
            </a:r>
          </a:p>
          <a:p>
            <a:pPr algn="ctr">
              <a:lnSpc>
                <a:spcPct val="120000"/>
              </a:lnSpc>
            </a:pPr>
            <a:r>
              <a:rPr sz="1300" b="0">
                <a:solidFill>
                  <a:srgbClr val="262626"/>
                </a:solidFill>
                <a:latin typeface="微软雅黑"/>
                <a:ea typeface="微软雅黑"/>
              </a:rPr>
              <a:t>Playwright 离线驱动真实浏览器 ✓</a:t>
            </a:r>
          </a:p>
        </p:txBody>
      </p:sp>
      <p:sp>
        <p:nvSpPr>
          <p:cNvPr id="19" name="Rounded Rectangle 18"/>
          <p:cNvSpPr/>
          <p:nvPr/>
        </p:nvSpPr>
        <p:spPr>
          <a:xfrm>
            <a:off x="566928" y="4480560"/>
            <a:ext cx="11292840" cy="1234440"/>
          </a:xfrm>
          <a:prstGeom prst="round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20" name="TextBox 19"/>
          <p:cNvSpPr txBox="1"/>
          <p:nvPr/>
        </p:nvSpPr>
        <p:spPr>
          <a:xfrm>
            <a:off x="841248" y="4617720"/>
            <a:ext cx="10789920" cy="960120"/>
          </a:xfrm>
          <a:prstGeom prst="rect">
            <a:avLst/>
          </a:prstGeom>
          <a:noFill/>
        </p:spPr>
        <p:txBody>
          <a:bodyPr wrap="square" anchor="t" lIns="0" rIns="0" tIns="0" bIns="0">
            <a:spAutoFit/>
          </a:bodyPr>
          <a:lstStyle/>
          <a:p>
            <a:pPr algn="l">
              <a:lnSpc>
                <a:spcPct val="125000"/>
              </a:lnSpc>
            </a:pPr>
            <a:r>
              <a:rPr sz="1400" b="1">
                <a:solidFill>
                  <a:srgbClr val="1F4E79"/>
                </a:solidFill>
                <a:latin typeface="微软雅黑"/>
                <a:ea typeface="微软雅黑"/>
              </a:rPr>
              <a:t>测试发现并修复的真实缺陷（人工验收难以发现）</a:t>
            </a:r>
          </a:p>
          <a:p>
            <a:pPr algn="l">
              <a:lnSpc>
                <a:spcPct val="125000"/>
              </a:lnSpc>
            </a:pPr>
            <a:r>
              <a:rPr sz="1300" b="0">
                <a:solidFill>
                  <a:srgbClr val="262626"/>
                </a:solidFill>
                <a:latin typeface="微软雅黑"/>
                <a:ea typeface="微软雅黑"/>
              </a:rPr>
              <a:t>① useChat 不响应 transport 更换导致流式失效　② bigram 分词未先剔除英文串导致中文双字错位漏召回　</a:t>
            </a:r>
          </a:p>
          <a:p>
            <a:pPr algn="l">
              <a:lnSpc>
                <a:spcPct val="125000"/>
              </a:lnSpc>
            </a:pPr>
            <a:r>
              <a:rPr sz="1300" b="0">
                <a:solidFill>
                  <a:srgbClr val="262626"/>
                </a:solidFill>
                <a:latin typeface="微软雅黑"/>
                <a:ea typeface="微软雅黑"/>
              </a:rPr>
              <a:t>③ 章节标题正则对“第12章”等多位数字形态漏匹配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赛题指标达成对照</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全部结论可复核：要么有自动化验证，要么如实标注“待实测”</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10</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graphicFrame>
        <p:nvGraphicFramePr>
          <p:cNvPr id="7" name="Table 6"/>
          <p:cNvGraphicFramePr>
            <a:graphicFrameLocks noGrp="1"/>
          </p:cNvGraphicFramePr>
          <p:nvPr/>
        </p:nvGraphicFramePr>
        <p:xfrm>
          <a:off x="566928" y="1417320"/>
          <a:ext cx="11292840" cy="4206240"/>
        </p:xfrm>
        <a:graphic>
          <a:graphicData uri="http://schemas.openxmlformats.org/drawingml/2006/table">
            <a:tbl>
              <a:tblPr firstRow="1" bandRow="1">
                <a:tableStyleId>{5C22544A-7EE6-4342-B048-85BDC9FD1C3A}</a:tableStyleId>
              </a:tblPr>
              <a:tblGrid>
                <a:gridCol w="3017520"/>
                <a:gridCol w="6537960"/>
                <a:gridCol w="1737360"/>
              </a:tblGrid>
              <a:tr h="525780">
                <a:tc>
                  <a:txBody>
                    <a:bodyPr/>
                    <a:lstStyle/>
                    <a:p>
                      <a:r>
                        <a:rPr sz="1400" b="1">
                          <a:solidFill>
                            <a:srgbClr val="FFFFFF"/>
                          </a:solidFill>
                          <a:latin typeface="微软雅黑"/>
                          <a:ea typeface="微软雅黑"/>
                        </a:rPr>
                        <a:t>赛题要求</a:t>
                      </a:r>
                    </a:p>
                  </a:txBody>
                  <a:tcPr anchor="ctr">
                    <a:solidFill>
                      <a:srgbClr val="1F4E79"/>
                    </a:solidFill>
                  </a:tcPr>
                </a:tc>
                <a:tc>
                  <a:txBody>
                    <a:bodyPr/>
                    <a:lstStyle/>
                    <a:p>
                      <a:r>
                        <a:rPr sz="1400" b="1">
                          <a:solidFill>
                            <a:srgbClr val="FFFFFF"/>
                          </a:solidFill>
                          <a:latin typeface="微软雅黑"/>
                          <a:ea typeface="微软雅黑"/>
                        </a:rPr>
                        <a:t>实现情况（摘要）</a:t>
                      </a:r>
                    </a:p>
                  </a:txBody>
                  <a:tcPr anchor="ctr">
                    <a:solidFill>
                      <a:srgbClr val="1F4E79"/>
                    </a:solidFill>
                  </a:tcPr>
                </a:tc>
                <a:tc>
                  <a:txBody>
                    <a:bodyPr/>
                    <a:lstStyle/>
                    <a:p>
                      <a:r>
                        <a:rPr sz="1400" b="1">
                          <a:solidFill>
                            <a:srgbClr val="FFFFFF"/>
                          </a:solidFill>
                          <a:latin typeface="微软雅黑"/>
                          <a:ea typeface="微软雅黑"/>
                        </a:rPr>
                        <a:t>状态</a:t>
                      </a:r>
                    </a:p>
                  </a:txBody>
                  <a:tcPr anchor="ctr">
                    <a:solidFill>
                      <a:srgbClr val="1F4E79"/>
                    </a:solidFill>
                  </a:tcPr>
                </a:tc>
              </a:tr>
              <a:tr h="525780">
                <a:tc>
                  <a:txBody>
                    <a:bodyPr/>
                    <a:lstStyle/>
                    <a:p>
                      <a:r>
                        <a:rPr sz="1250" b="0">
                          <a:solidFill>
                            <a:srgbClr val="262626"/>
                          </a:solidFill>
                          <a:latin typeface="微软雅黑"/>
                          <a:ea typeface="微软雅黑"/>
                        </a:rPr>
                        <a:t>文档格式（四种选二）</a:t>
                      </a:r>
                    </a:p>
                  </a:txBody>
                  <a:tcPr anchor="ctr">
                    <a:solidFill>
                      <a:srgbClr val="FFFFFF"/>
                    </a:solidFill>
                  </a:tcPr>
                </a:tc>
                <a:tc>
                  <a:txBody>
                    <a:bodyPr/>
                    <a:lstStyle/>
                    <a:p>
                      <a:r>
                        <a:rPr sz="1250" b="0">
                          <a:solidFill>
                            <a:srgbClr val="262626"/>
                          </a:solidFill>
                          <a:latin typeface="微软雅黑"/>
                          <a:ea typeface="微软雅黑"/>
                        </a:rPr>
                        <a:t>PDF + TXT，白名单校验 + GBK 自动回退</a:t>
                      </a:r>
                    </a:p>
                  </a:txBody>
                  <a:tcPr anchor="ctr">
                    <a:solidFill>
                      <a:srgbClr val="FFFFFF"/>
                    </a:solidFill>
                  </a:tcPr>
                </a:tc>
                <a:tc>
                  <a:txBody>
                    <a:bodyPr/>
                    <a:lstStyle/>
                    <a:p>
                      <a:r>
                        <a:rPr sz="1250" b="1">
                          <a:solidFill>
                            <a:srgbClr val="548235"/>
                          </a:solidFill>
                          <a:latin typeface="微软雅黑"/>
                          <a:ea typeface="微软雅黑"/>
                        </a:rPr>
                        <a:t>✅ 达成</a:t>
                      </a:r>
                    </a:p>
                  </a:txBody>
                  <a:tcPr anchor="ctr">
                    <a:solidFill>
                      <a:srgbClr val="FFFFFF"/>
                    </a:solidFill>
                  </a:tcPr>
                </a:tc>
              </a:tr>
              <a:tr h="525780">
                <a:tc>
                  <a:txBody>
                    <a:bodyPr/>
                    <a:lstStyle/>
                    <a:p>
                      <a:r>
                        <a:rPr sz="1250" b="0">
                          <a:solidFill>
                            <a:srgbClr val="262626"/>
                          </a:solidFill>
                          <a:latin typeface="微软雅黑"/>
                          <a:ea typeface="微软雅黑"/>
                        </a:rPr>
                        <a:t>一章内容 ≥20 个知识点</a:t>
                      </a:r>
                    </a:p>
                  </a:txBody>
                  <a:tcPr anchor="ctr">
                    <a:solidFill>
                      <a:srgbClr val="F2F7FC"/>
                    </a:solidFill>
                  </a:tcPr>
                </a:tc>
                <a:tc>
                  <a:txBody>
                    <a:bodyPr/>
                    <a:lstStyle/>
                    <a:p>
                      <a:r>
                        <a:rPr sz="1250" b="0">
                          <a:solidFill>
                            <a:srgbClr val="262626"/>
                          </a:solidFill>
                          <a:latin typeface="微软雅黑"/>
                          <a:ea typeface="微软雅黑"/>
                        </a:rPr>
                        <a:t>离线演示集 37 个（e2e 断言通过）</a:t>
                      </a:r>
                    </a:p>
                  </a:txBody>
                  <a:tcPr anchor="ctr">
                    <a:solidFill>
                      <a:srgbClr val="F2F7FC"/>
                    </a:solidFill>
                  </a:tcPr>
                </a:tc>
                <a:tc>
                  <a:txBody>
                    <a:bodyPr/>
                    <a:lstStyle/>
                    <a:p>
                      <a:r>
                        <a:rPr sz="1250" b="1">
                          <a:solidFill>
                            <a:srgbClr val="548235"/>
                          </a:solidFill>
                          <a:latin typeface="微软雅黑"/>
                          <a:ea typeface="微软雅黑"/>
                        </a:rPr>
                        <a:t>✅ 离线达成</a:t>
                      </a:r>
                    </a:p>
                  </a:txBody>
                  <a:tcPr anchor="ctr">
                    <a:solidFill>
                      <a:srgbClr val="F2F7FC"/>
                    </a:solidFill>
                  </a:tcPr>
                </a:tc>
              </a:tr>
              <a:tr h="525780">
                <a:tc>
                  <a:txBody>
                    <a:bodyPr/>
                    <a:lstStyle/>
                    <a:p>
                      <a:r>
                        <a:rPr sz="1250" b="0">
                          <a:solidFill>
                            <a:srgbClr val="262626"/>
                          </a:solidFill>
                          <a:latin typeface="微软雅黑"/>
                          <a:ea typeface="微软雅黑"/>
                        </a:rPr>
                        <a:t>≥3 种关系类型</a:t>
                      </a:r>
                    </a:p>
                  </a:txBody>
                  <a:tcPr anchor="ctr">
                    <a:solidFill>
                      <a:srgbClr val="FFFFFF"/>
                    </a:solidFill>
                  </a:tcPr>
                </a:tc>
                <a:tc>
                  <a:txBody>
                    <a:bodyPr/>
                    <a:lstStyle/>
                    <a:p>
                      <a:r>
                        <a:rPr sz="1250" b="0">
                          <a:solidFill>
                            <a:srgbClr val="262626"/>
                          </a:solidFill>
                          <a:latin typeface="微软雅黑"/>
                          <a:ea typeface="微软雅黑"/>
                        </a:rPr>
                        <a:t>前置 29 / 包含 12 / 相关 10（演示集）</a:t>
                      </a:r>
                    </a:p>
                  </a:txBody>
                  <a:tcPr anchor="ctr">
                    <a:solidFill>
                      <a:srgbClr val="FFFFFF"/>
                    </a:solidFill>
                  </a:tcPr>
                </a:tc>
                <a:tc>
                  <a:txBody>
                    <a:bodyPr/>
                    <a:lstStyle/>
                    <a:p>
                      <a:r>
                        <a:rPr sz="1250" b="1">
                          <a:solidFill>
                            <a:srgbClr val="548235"/>
                          </a:solidFill>
                          <a:latin typeface="微软雅黑"/>
                          <a:ea typeface="微软雅黑"/>
                        </a:rPr>
                        <a:t>✅ 达成</a:t>
                      </a:r>
                    </a:p>
                  </a:txBody>
                  <a:tcPr anchor="ctr">
                    <a:solidFill>
                      <a:srgbClr val="FFFFFF"/>
                    </a:solidFill>
                  </a:tcPr>
                </a:tc>
              </a:tr>
              <a:tr h="525780">
                <a:tc>
                  <a:txBody>
                    <a:bodyPr/>
                    <a:lstStyle/>
                    <a:p>
                      <a:r>
                        <a:rPr sz="1250" b="0">
                          <a:solidFill>
                            <a:srgbClr val="262626"/>
                          </a:solidFill>
                          <a:latin typeface="微软雅黑"/>
                          <a:ea typeface="微软雅黑"/>
                        </a:rPr>
                        <a:t>抽取准确率 ≥70%</a:t>
                      </a:r>
                    </a:p>
                  </a:txBody>
                  <a:tcPr anchor="ctr">
                    <a:solidFill>
                      <a:srgbClr val="F2F7FC"/>
                    </a:solidFill>
                  </a:tcPr>
                </a:tc>
                <a:tc>
                  <a:txBody>
                    <a:bodyPr/>
                    <a:lstStyle/>
                    <a:p>
                      <a:r>
                        <a:rPr sz="1250" b="0">
                          <a:solidFill>
                            <a:srgbClr val="262626"/>
                          </a:solidFill>
                          <a:latin typeface="微软雅黑"/>
                          <a:ea typeface="微软雅黑"/>
                        </a:rPr>
                        <a:t>测试方案与标注基准已就绪，实测待接入真实 Key</a:t>
                      </a:r>
                    </a:p>
                  </a:txBody>
                  <a:tcPr anchor="ctr">
                    <a:solidFill>
                      <a:srgbClr val="F2F7FC"/>
                    </a:solidFill>
                  </a:tcPr>
                </a:tc>
                <a:tc>
                  <a:txBody>
                    <a:bodyPr/>
                    <a:lstStyle/>
                    <a:p>
                      <a:r>
                        <a:rPr sz="1250" b="1">
                          <a:solidFill>
                            <a:srgbClr val="BF8F00"/>
                          </a:solidFill>
                          <a:latin typeface="微软雅黑"/>
                          <a:ea typeface="微软雅黑"/>
                        </a:rPr>
                        <a:t>🟡 待实测</a:t>
                      </a:r>
                    </a:p>
                  </a:txBody>
                  <a:tcPr anchor="ctr">
                    <a:solidFill>
                      <a:srgbClr val="F2F7FC"/>
                    </a:solidFill>
                  </a:tcPr>
                </a:tc>
              </a:tr>
              <a:tr h="525780">
                <a:tc>
                  <a:txBody>
                    <a:bodyPr/>
                    <a:lstStyle/>
                    <a:p>
                      <a:r>
                        <a:rPr sz="1250" b="0">
                          <a:solidFill>
                            <a:srgbClr val="262626"/>
                          </a:solidFill>
                          <a:latin typeface="微软雅黑"/>
                          <a:ea typeface="微软雅黑"/>
                        </a:rPr>
                        <a:t>图谱交互 + 卡片列表</a:t>
                      </a:r>
                    </a:p>
                  </a:txBody>
                  <a:tcPr anchor="ctr">
                    <a:solidFill>
                      <a:srgbClr val="FFFFFF"/>
                    </a:solidFill>
                  </a:tcPr>
                </a:tc>
                <a:tc>
                  <a:txBody>
                    <a:bodyPr/>
                    <a:lstStyle/>
                    <a:p>
                      <a:r>
                        <a:rPr sz="1250" b="0">
                          <a:solidFill>
                            <a:srgbClr val="262626"/>
                          </a:solidFill>
                          <a:latin typeface="微软雅黑"/>
                          <a:ea typeface="微软雅黑"/>
                        </a:rPr>
                        <a:t>缩放/拖拽/点击详情；详情卡 + 按章节清单</a:t>
                      </a:r>
                    </a:p>
                  </a:txBody>
                  <a:tcPr anchor="ctr">
                    <a:solidFill>
                      <a:srgbClr val="FFFFFF"/>
                    </a:solidFill>
                  </a:tcPr>
                </a:tc>
                <a:tc>
                  <a:txBody>
                    <a:bodyPr/>
                    <a:lstStyle/>
                    <a:p>
                      <a:r>
                        <a:rPr sz="1250" b="1">
                          <a:solidFill>
                            <a:srgbClr val="548235"/>
                          </a:solidFill>
                          <a:latin typeface="微软雅黑"/>
                          <a:ea typeface="微软雅黑"/>
                        </a:rPr>
                        <a:t>✅ 达成</a:t>
                      </a:r>
                    </a:p>
                  </a:txBody>
                  <a:tcPr anchor="ctr">
                    <a:solidFill>
                      <a:srgbClr val="FFFFFF"/>
                    </a:solidFill>
                  </a:tcPr>
                </a:tc>
              </a:tr>
              <a:tr h="525780">
                <a:tc>
                  <a:txBody>
                    <a:bodyPr/>
                    <a:lstStyle/>
                    <a:p>
                      <a:r>
                        <a:rPr sz="1250" b="0">
                          <a:solidFill>
                            <a:srgbClr val="262626"/>
                          </a:solidFill>
                          <a:latin typeface="微软雅黑"/>
                          <a:ea typeface="微软雅黑"/>
                        </a:rPr>
                        <a:t>问答 ≤15s / 建图 ≤60s</a:t>
                      </a:r>
                    </a:p>
                  </a:txBody>
                  <a:tcPr anchor="ctr">
                    <a:solidFill>
                      <a:srgbClr val="F2F7FC"/>
                    </a:solidFill>
                  </a:tcPr>
                </a:tc>
                <a:tc>
                  <a:txBody>
                    <a:bodyPr/>
                    <a:lstStyle/>
                    <a:p>
                      <a:r>
                        <a:rPr sz="1250" b="0">
                          <a:solidFill>
                            <a:srgbClr val="262626"/>
                          </a:solidFill>
                          <a:latin typeface="微软雅黑"/>
                          <a:ea typeface="微软雅黑"/>
                        </a:rPr>
                        <a:t>流式输出 + 抽取预算封顶；离线问答实测 &lt;1s</a:t>
                      </a:r>
                    </a:p>
                  </a:txBody>
                  <a:tcPr anchor="ctr">
                    <a:solidFill>
                      <a:srgbClr val="F2F7FC"/>
                    </a:solidFill>
                  </a:tcPr>
                </a:tc>
                <a:tc>
                  <a:txBody>
                    <a:bodyPr/>
                    <a:lstStyle/>
                    <a:p>
                      <a:r>
                        <a:rPr sz="1250" b="1">
                          <a:solidFill>
                            <a:srgbClr val="548235"/>
                          </a:solidFill>
                          <a:latin typeface="微软雅黑"/>
                          <a:ea typeface="微软雅黑"/>
                        </a:rPr>
                        <a:t>✅ 机制保障</a:t>
                      </a:r>
                    </a:p>
                  </a:txBody>
                  <a:tcPr anchor="ctr">
                    <a:solidFill>
                      <a:srgbClr val="F2F7FC"/>
                    </a:solidFill>
                  </a:tcPr>
                </a:tc>
              </a:tr>
              <a:tr h="525780">
                <a:tc>
                  <a:txBody>
                    <a:bodyPr/>
                    <a:lstStyle/>
                    <a:p>
                      <a:r>
                        <a:rPr sz="1250" b="0">
                          <a:solidFill>
                            <a:srgbClr val="262626"/>
                          </a:solidFill>
                          <a:latin typeface="微软雅黑"/>
                          <a:ea typeface="微软雅黑"/>
                        </a:rPr>
                        <a:t>教师端 + 学生端 + 多课程</a:t>
                      </a:r>
                    </a:p>
                  </a:txBody>
                  <a:tcPr anchor="ctr">
                    <a:solidFill>
                      <a:srgbClr val="FFFFFF"/>
                    </a:solidFill>
                  </a:tcPr>
                </a:tc>
                <a:tc>
                  <a:txBody>
                    <a:bodyPr/>
                    <a:lstStyle/>
                    <a:p>
                      <a:r>
                        <a:rPr sz="1250" b="0">
                          <a:solidFill>
                            <a:srgbClr val="262626"/>
                          </a:solidFill>
                          <a:latin typeface="微软雅黑"/>
                          <a:ea typeface="微软雅黑"/>
                        </a:rPr>
                        <a:t>五页面全功能；按 courseId 全链路隔离</a:t>
                      </a:r>
                    </a:p>
                  </a:txBody>
                  <a:tcPr anchor="ctr">
                    <a:solidFill>
                      <a:srgbClr val="FFFFFF"/>
                    </a:solidFill>
                  </a:tcPr>
                </a:tc>
                <a:tc>
                  <a:txBody>
                    <a:bodyPr/>
                    <a:lstStyle/>
                    <a:p>
                      <a:r>
                        <a:rPr sz="1250" b="1">
                          <a:solidFill>
                            <a:srgbClr val="548235"/>
                          </a:solidFill>
                          <a:latin typeface="微软雅黑"/>
                          <a:ea typeface="微软雅黑"/>
                        </a:rPr>
                        <a:t>✅ 达成</a:t>
                      </a:r>
                    </a:p>
                  </a:txBody>
                  <a:tcPr anchor="ctr">
                    <a:solidFill>
                      <a:srgbClr val="FFFFFF"/>
                    </a:solidFill>
                  </a:tcPr>
                </a:tc>
              </a:tr>
            </a:tbl>
          </a:graphicData>
        </a:graphic>
      </p:graphicFrame>
      <p:sp>
        <p:nvSpPr>
          <p:cNvPr id="8" name="TextBox 7"/>
          <p:cNvSpPr txBox="1"/>
          <p:nvPr/>
        </p:nvSpPr>
        <p:spPr>
          <a:xfrm>
            <a:off x="566928" y="5806440"/>
            <a:ext cx="11247120" cy="502920"/>
          </a:xfrm>
          <a:prstGeom prst="rect">
            <a:avLst/>
          </a:prstGeom>
          <a:noFill/>
        </p:spPr>
        <p:txBody>
          <a:bodyPr wrap="square" anchor="t" lIns="0" rIns="0" tIns="0" bIns="0">
            <a:spAutoFit/>
          </a:bodyPr>
          <a:lstStyle/>
          <a:p>
            <a:pPr algn="l">
              <a:lnSpc>
                <a:spcPct val="112000"/>
              </a:lnSpc>
            </a:pPr>
            <a:r>
              <a:rPr sz="1250" b="0">
                <a:solidFill>
                  <a:srgbClr val="595959"/>
                </a:solidFill>
                <a:latin typeface="微软雅黑"/>
                <a:ea typeface="微软雅黑"/>
              </a:rPr>
              <a:t>诚实性原则：未实测指标在材料中一律标注“待实测”并附验证路径，不出现虚构数字；上传响应携带 demoMode 标志区分演示数据与真实抽取。</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292608"/>
            <a:ext cx="82296" cy="47548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713232" y="256032"/>
            <a:ext cx="8686800" cy="548640"/>
          </a:xfrm>
          <a:prstGeom prst="rect">
            <a:avLst/>
          </a:prstGeom>
          <a:noFill/>
        </p:spPr>
        <p:txBody>
          <a:bodyPr wrap="square" anchor="ctr" lIns="0" rIns="0" tIns="0" bIns="0">
            <a:spAutoFit/>
          </a:bodyPr>
          <a:lstStyle/>
          <a:p>
            <a:pPr algn="l">
              <a:lnSpc>
                <a:spcPct val="112000"/>
              </a:lnSpc>
            </a:pPr>
            <a:r>
              <a:rPr sz="2700" b="1">
                <a:solidFill>
                  <a:srgbClr val="1F4E79"/>
                </a:solidFill>
                <a:latin typeface="微软雅黑"/>
                <a:ea typeface="微软雅黑"/>
              </a:rPr>
              <a:t>已知限制与改进方向</a:t>
            </a:r>
          </a:p>
        </p:txBody>
      </p:sp>
      <p:sp>
        <p:nvSpPr>
          <p:cNvPr id="4" name="TextBox 3"/>
          <p:cNvSpPr txBox="1"/>
          <p:nvPr/>
        </p:nvSpPr>
        <p:spPr>
          <a:xfrm>
            <a:off x="731520" y="804672"/>
            <a:ext cx="10789920" cy="329184"/>
          </a:xfrm>
          <a:prstGeom prst="rect">
            <a:avLst/>
          </a:prstGeom>
          <a:noFill/>
        </p:spPr>
        <p:txBody>
          <a:bodyPr wrap="square" anchor="t" lIns="0" rIns="0" tIns="0" bIns="0">
            <a:spAutoFit/>
          </a:bodyPr>
          <a:lstStyle/>
          <a:p>
            <a:pPr algn="l">
              <a:lnSpc>
                <a:spcPct val="112000"/>
              </a:lnSpc>
            </a:pPr>
            <a:r>
              <a:rPr sz="1300" b="0">
                <a:solidFill>
                  <a:srgbClr val="595959"/>
                </a:solidFill>
                <a:latin typeface="微软雅黑"/>
                <a:ea typeface="微软雅黑"/>
              </a:rPr>
              <a:t>如实披露，迭代路线清晰</a:t>
            </a:r>
          </a:p>
        </p:txBody>
      </p:sp>
      <p:sp>
        <p:nvSpPr>
          <p:cNvPr id="5" name="TextBox 4"/>
          <p:cNvSpPr txBox="1"/>
          <p:nvPr/>
        </p:nvSpPr>
        <p:spPr>
          <a:xfrm>
            <a:off x="11292840" y="6473952"/>
            <a:ext cx="640080" cy="274320"/>
          </a:xfrm>
          <a:prstGeom prst="rect">
            <a:avLst/>
          </a:prstGeom>
          <a:noFill/>
        </p:spPr>
        <p:txBody>
          <a:bodyPr wrap="square" anchor="t" lIns="0" rIns="0" tIns="0" bIns="0">
            <a:spAutoFit/>
          </a:bodyPr>
          <a:lstStyle/>
          <a:p>
            <a:pPr algn="r">
              <a:lnSpc>
                <a:spcPct val="112000"/>
              </a:lnSpc>
            </a:pPr>
            <a:r>
              <a:rPr sz="1100" b="0">
                <a:solidFill>
                  <a:srgbClr val="595959"/>
                </a:solidFill>
                <a:latin typeface="微软雅黑"/>
                <a:ea typeface="微软雅黑"/>
              </a:rPr>
              <a:t>11</a:t>
            </a:r>
          </a:p>
        </p:txBody>
      </p:sp>
      <p:sp>
        <p:nvSpPr>
          <p:cNvPr id="6" name="TextBox 5"/>
          <p:cNvSpPr txBox="1"/>
          <p:nvPr/>
        </p:nvSpPr>
        <p:spPr>
          <a:xfrm>
            <a:off x="502920" y="6473952"/>
            <a:ext cx="7315200" cy="274320"/>
          </a:xfrm>
          <a:prstGeom prst="rect">
            <a:avLst/>
          </a:prstGeom>
          <a:noFill/>
        </p:spPr>
        <p:txBody>
          <a:bodyPr wrap="square" anchor="t" lIns="0" rIns="0" tIns="0" bIns="0">
            <a:spAutoFit/>
          </a:bodyPr>
          <a:lstStyle/>
          <a:p>
            <a:pPr algn="l">
              <a:lnSpc>
                <a:spcPct val="112000"/>
              </a:lnSpc>
            </a:pPr>
            <a:r>
              <a:rPr sz="1000" b="0">
                <a:solidFill>
                  <a:srgbClr val="A6A6A6"/>
                </a:solidFill>
                <a:latin typeface="微软雅黑"/>
                <a:ea typeface="微软雅黑"/>
              </a:rPr>
              <a:t>基于 AIGC 的课程知识图谱智能构建与学习导航系统</a:t>
            </a:r>
          </a:p>
        </p:txBody>
      </p:sp>
      <p:sp>
        <p:nvSpPr>
          <p:cNvPr id="7" name="Rounded Rectangle 6"/>
          <p:cNvSpPr/>
          <p:nvPr/>
        </p:nvSpPr>
        <p:spPr>
          <a:xfrm>
            <a:off x="566928" y="1417320"/>
            <a:ext cx="5486400" cy="44805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713232" y="152704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已知限制（诚实清单）</a:t>
            </a:r>
          </a:p>
        </p:txBody>
      </p:sp>
      <p:sp>
        <p:nvSpPr>
          <p:cNvPr id="9" name="TextBox 8"/>
          <p:cNvSpPr txBox="1"/>
          <p:nvPr/>
        </p:nvSpPr>
        <p:spPr>
          <a:xfrm>
            <a:off x="713232" y="1947672"/>
            <a:ext cx="5193792" cy="384048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 仅支持 PDF/TXT（赛题“四种选二”已达标），</a:t>
            </a:r>
          </a:p>
          <a:p>
            <a:pPr algn="l">
              <a:lnSpc>
                <a:spcPct val="115000"/>
              </a:lnSpc>
            </a:pPr>
            <a:r>
              <a:rPr sz="1350" b="0">
                <a:solidFill>
                  <a:srgbClr val="262626"/>
                </a:solidFill>
                <a:latin typeface="微软雅黑"/>
                <a:ea typeface="微软雅黑"/>
              </a:rPr>
              <a:t>  DOCX/Markdown 解析器待扩展</a:t>
            </a:r>
          </a:p>
          <a:p>
            <a:pPr algn="l">
              <a:lnSpc>
                <a:spcPct val="115000"/>
              </a:lnSpc>
            </a:pPr>
            <a:r>
              <a:rPr sz="1350" b="0">
                <a:solidFill>
                  <a:srgbClr val="262626"/>
                </a:solidFill>
                <a:latin typeface="微软雅黑"/>
                <a:ea typeface="微软雅黑"/>
              </a:rPr>
              <a:t>• 抽取准确率暂无在线实测数字——宁缺毋假，</a:t>
            </a:r>
          </a:p>
          <a:p>
            <a:pPr algn="l">
              <a:lnSpc>
                <a:spcPct val="115000"/>
              </a:lnSpc>
            </a:pPr>
            <a:r>
              <a:rPr sz="1350" b="0">
                <a:solidFill>
                  <a:srgbClr val="262626"/>
                </a:solidFill>
                <a:latin typeface="微软雅黑"/>
                <a:ea typeface="微软雅黑"/>
              </a:rPr>
              <a:t>  待真实 Key 按报告流程回填</a:t>
            </a:r>
          </a:p>
          <a:p>
            <a:pPr algn="l">
              <a:lnSpc>
                <a:spcPct val="115000"/>
              </a:lnSpc>
            </a:pPr>
            <a:r>
              <a:rPr sz="1350" b="0">
                <a:solidFill>
                  <a:srgbClr val="262626"/>
                </a:solidFill>
                <a:latin typeface="微软雅黑"/>
                <a:ea typeface="微软雅黑"/>
              </a:rPr>
              <a:t>• 知识消歧为词面级去重，语义级同义合并</a:t>
            </a:r>
          </a:p>
          <a:p>
            <a:pPr algn="l">
              <a:lnSpc>
                <a:spcPct val="115000"/>
              </a:lnSpc>
            </a:pPr>
            <a:r>
              <a:rPr sz="1350" b="0">
                <a:solidFill>
                  <a:srgbClr val="262626"/>
                </a:solidFill>
                <a:latin typeface="微软雅黑"/>
                <a:ea typeface="微软雅黑"/>
              </a:rPr>
              <a:t>  （embedding）列入改进方向</a:t>
            </a:r>
          </a:p>
          <a:p>
            <a:pPr algn="l">
              <a:lnSpc>
                <a:spcPct val="115000"/>
              </a:lnSpc>
            </a:pPr>
            <a:r>
              <a:rPr sz="1350" b="0">
                <a:solidFill>
                  <a:srgbClr val="262626"/>
                </a:solidFill>
                <a:latin typeface="微软雅黑"/>
                <a:ea typeface="微软雅黑"/>
              </a:rPr>
              <a:t>• 路径推荐为编号列表，图形化连线待做</a:t>
            </a:r>
          </a:p>
          <a:p>
            <a:pPr algn="l">
              <a:lnSpc>
                <a:spcPct val="115000"/>
              </a:lnSpc>
            </a:pPr>
            <a:r>
              <a:rPr sz="1350" b="0">
                <a:solidFill>
                  <a:srgbClr val="262626"/>
                </a:solidFill>
                <a:latin typeface="微软雅黑"/>
                <a:ea typeface="微软雅黑"/>
              </a:rPr>
              <a:t>• 图谱截图待运行系统人工截取，不虚构</a:t>
            </a:r>
          </a:p>
        </p:txBody>
      </p:sp>
      <p:sp>
        <p:nvSpPr>
          <p:cNvPr id="10" name="Rounded Rectangle 9"/>
          <p:cNvSpPr/>
          <p:nvPr/>
        </p:nvSpPr>
        <p:spPr>
          <a:xfrm>
            <a:off x="6355080" y="1417320"/>
            <a:ext cx="5486400" cy="448056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6501384" y="1527048"/>
            <a:ext cx="5193792" cy="384048"/>
          </a:xfrm>
          <a:prstGeom prst="rect">
            <a:avLst/>
          </a:prstGeom>
          <a:noFill/>
        </p:spPr>
        <p:txBody>
          <a:bodyPr wrap="square" anchor="t" lIns="0" rIns="0" tIns="0" bIns="0">
            <a:spAutoFit/>
          </a:bodyPr>
          <a:lstStyle/>
          <a:p>
            <a:pPr algn="l">
              <a:lnSpc>
                <a:spcPct val="112000"/>
              </a:lnSpc>
            </a:pPr>
            <a:r>
              <a:rPr sz="1600" b="1">
                <a:solidFill>
                  <a:srgbClr val="1F4E79"/>
                </a:solidFill>
                <a:latin typeface="微软雅黑"/>
                <a:ea typeface="微软雅黑"/>
              </a:rPr>
              <a:t>改进路线</a:t>
            </a:r>
          </a:p>
        </p:txBody>
      </p:sp>
      <p:sp>
        <p:nvSpPr>
          <p:cNvPr id="12" name="TextBox 11"/>
          <p:cNvSpPr txBox="1"/>
          <p:nvPr/>
        </p:nvSpPr>
        <p:spPr>
          <a:xfrm>
            <a:off x="6501384" y="1947672"/>
            <a:ext cx="5193792" cy="3840480"/>
          </a:xfrm>
          <a:prstGeom prst="rect">
            <a:avLst/>
          </a:prstGeom>
          <a:noFill/>
        </p:spPr>
        <p:txBody>
          <a:bodyPr wrap="square" anchor="t" lIns="0" rIns="0" tIns="0" bIns="0">
            <a:spAutoFit/>
          </a:bodyPr>
          <a:lstStyle/>
          <a:p>
            <a:pPr algn="l">
              <a:lnSpc>
                <a:spcPct val="115000"/>
              </a:lnSpc>
            </a:pPr>
            <a:r>
              <a:rPr sz="1350" b="0">
                <a:solidFill>
                  <a:srgbClr val="262626"/>
                </a:solidFill>
                <a:latin typeface="微软雅黑"/>
                <a:ea typeface="微软雅黑"/>
              </a:rPr>
              <a:t>• 接入 DeepSeek/通义 Key：按《抽取准确率测试</a:t>
            </a:r>
          </a:p>
          <a:p>
            <a:pPr algn="l">
              <a:lnSpc>
                <a:spcPct val="115000"/>
              </a:lnSpc>
            </a:pPr>
            <a:r>
              <a:rPr sz="1350" b="0">
                <a:solidFill>
                  <a:srgbClr val="262626"/>
                </a:solidFill>
                <a:latin typeface="微软雅黑"/>
                <a:ea typeface="微软雅黑"/>
              </a:rPr>
              <a:t>  报告》人工抽样实测，回填全部待实测指标</a:t>
            </a:r>
          </a:p>
          <a:p>
            <a:pPr algn="l">
              <a:lnSpc>
                <a:spcPct val="115000"/>
              </a:lnSpc>
            </a:pPr>
            <a:r>
              <a:rPr sz="1350" b="0">
                <a:solidFill>
                  <a:srgbClr val="262626"/>
                </a:solidFill>
                <a:latin typeface="微软雅黑"/>
                <a:ea typeface="微软雅黑"/>
              </a:rPr>
              <a:t>• 知识点名称向量化，相似度阈值合并 + 人工</a:t>
            </a:r>
          </a:p>
          <a:p>
            <a:pPr algn="l">
              <a:lnSpc>
                <a:spcPct val="115000"/>
              </a:lnSpc>
            </a:pPr>
            <a:r>
              <a:rPr sz="1350" b="0">
                <a:solidFill>
                  <a:srgbClr val="262626"/>
                </a:solidFill>
                <a:latin typeface="微软雅黑"/>
                <a:ea typeface="微软雅黑"/>
              </a:rPr>
              <a:t>  确认队列，实现语义级消歧</a:t>
            </a:r>
          </a:p>
          <a:p>
            <a:pPr algn="l">
              <a:lnSpc>
                <a:spcPct val="115000"/>
              </a:lnSpc>
            </a:pPr>
            <a:r>
              <a:rPr sz="1350" b="0">
                <a:solidFill>
                  <a:srgbClr val="262626"/>
                </a:solidFill>
                <a:latin typeface="微软雅黑"/>
                <a:ea typeface="微软雅黑"/>
              </a:rPr>
              <a:t>• DOCX（mammoth）/ Markdown 解析器接入，</a:t>
            </a:r>
          </a:p>
          <a:p>
            <a:pPr algn="l">
              <a:lnSpc>
                <a:spcPct val="115000"/>
              </a:lnSpc>
            </a:pPr>
            <a:r>
              <a:rPr sz="1350" b="0">
                <a:solidFill>
                  <a:srgbClr val="262626"/>
                </a:solidFill>
                <a:latin typeface="微软雅黑"/>
                <a:ea typeface="微软雅黑"/>
              </a:rPr>
              <a:t>  架构无需改动，仅扩展类型白名单</a:t>
            </a:r>
          </a:p>
          <a:p>
            <a:pPr algn="l">
              <a:lnSpc>
                <a:spcPct val="115000"/>
              </a:lnSpc>
            </a:pPr>
            <a:r>
              <a:rPr sz="1350" b="0">
                <a:solidFill>
                  <a:srgbClr val="262626"/>
                </a:solidFill>
                <a:latin typeface="微软雅黑"/>
                <a:ea typeface="微软雅黑"/>
              </a:rPr>
              <a:t>• 上传改造为异步任务（任务 id + 进度轮询）</a:t>
            </a:r>
          </a:p>
          <a:p>
            <a:pPr algn="l">
              <a:lnSpc>
                <a:spcPct val="115000"/>
              </a:lnSpc>
            </a:pPr>
            <a:r>
              <a:rPr sz="1350" b="0">
                <a:solidFill>
                  <a:srgbClr val="262626"/>
                </a:solidFill>
                <a:latin typeface="微软雅黑"/>
                <a:ea typeface="微软雅黑"/>
              </a:rPr>
              <a:t>• 推荐结果以 ECharts 树图呈现学习链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3" name="TextBox 2"/>
          <p:cNvSpPr txBox="1"/>
          <p:nvPr/>
        </p:nvSpPr>
        <p:spPr>
          <a:xfrm>
            <a:off x="822960" y="640080"/>
            <a:ext cx="10515600" cy="914400"/>
          </a:xfrm>
          <a:prstGeom prst="rect">
            <a:avLst/>
          </a:prstGeom>
          <a:noFill/>
        </p:spPr>
        <p:txBody>
          <a:bodyPr wrap="square" anchor="t" lIns="0" rIns="0" tIns="0" bIns="0">
            <a:spAutoFit/>
          </a:bodyPr>
          <a:lstStyle/>
          <a:p>
            <a:pPr algn="l">
              <a:lnSpc>
                <a:spcPct val="120000"/>
              </a:lnSpc>
            </a:pPr>
            <a:r>
              <a:rPr sz="2600" b="1">
                <a:solidFill>
                  <a:srgbClr val="FFFFFF"/>
                </a:solidFill>
                <a:latin typeface="微软雅黑"/>
                <a:ea typeface="微软雅黑"/>
              </a:rPr>
              <a:t>把建图谱的门槛降到“上传一个文件”，</a:t>
            </a:r>
          </a:p>
          <a:p>
            <a:pPr algn="l">
              <a:lnSpc>
                <a:spcPct val="120000"/>
              </a:lnSpc>
            </a:pPr>
            <a:r>
              <a:rPr sz="2600" b="1">
                <a:solidFill>
                  <a:srgbClr val="FFFFFF"/>
                </a:solidFill>
                <a:latin typeface="微软雅黑"/>
                <a:ea typeface="微软雅黑"/>
              </a:rPr>
              <a:t>把学习的主动权交给“每一步都有依据”的学生。</a:t>
            </a:r>
          </a:p>
        </p:txBody>
      </p:sp>
      <p:sp>
        <p:nvSpPr>
          <p:cNvPr id="4" name="Rounded Rectangle 3"/>
          <p:cNvSpPr/>
          <p:nvPr/>
        </p:nvSpPr>
        <p:spPr>
          <a:xfrm>
            <a:off x="822960" y="2606040"/>
            <a:ext cx="3291840" cy="13716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5" name="TextBox 4"/>
          <p:cNvSpPr txBox="1"/>
          <p:nvPr/>
        </p:nvSpPr>
        <p:spPr>
          <a:xfrm>
            <a:off x="822960" y="2761488"/>
            <a:ext cx="3291840" cy="457200"/>
          </a:xfrm>
          <a:prstGeom prst="rect">
            <a:avLst/>
          </a:prstGeom>
          <a:noFill/>
        </p:spPr>
        <p:txBody>
          <a:bodyPr wrap="square" anchor="t" lIns="0" rIns="0" tIns="0" bIns="0">
            <a:spAutoFit/>
          </a:bodyPr>
          <a:lstStyle/>
          <a:p>
            <a:pPr algn="ctr">
              <a:lnSpc>
                <a:spcPct val="112000"/>
              </a:lnSpc>
            </a:pPr>
            <a:r>
              <a:rPr sz="1300" b="0">
                <a:solidFill>
                  <a:srgbClr val="595959"/>
                </a:solidFill>
                <a:latin typeface="微软雅黑"/>
                <a:ea typeface="微软雅黑"/>
              </a:rPr>
              <a:t>第 1 步</a:t>
            </a:r>
          </a:p>
        </p:txBody>
      </p:sp>
      <p:sp>
        <p:nvSpPr>
          <p:cNvPr id="6" name="TextBox 5"/>
          <p:cNvSpPr txBox="1"/>
          <p:nvPr/>
        </p:nvSpPr>
        <p:spPr>
          <a:xfrm>
            <a:off x="822960" y="3154680"/>
            <a:ext cx="3291840" cy="548640"/>
          </a:xfrm>
          <a:prstGeom prst="rect">
            <a:avLst/>
          </a:prstGeom>
          <a:noFill/>
        </p:spPr>
        <p:txBody>
          <a:bodyPr wrap="square" anchor="t" lIns="0" rIns="0" tIns="0" bIns="0">
            <a:spAutoFit/>
          </a:bodyPr>
          <a:lstStyle/>
          <a:p>
            <a:pPr algn="ctr">
              <a:lnSpc>
                <a:spcPct val="112000"/>
              </a:lnSpc>
            </a:pPr>
            <a:r>
              <a:rPr sz="2000" b="1">
                <a:solidFill>
                  <a:srgbClr val="1F4E79"/>
                </a:solidFill>
                <a:latin typeface="微软雅黑"/>
                <a:ea typeface="微软雅黑"/>
              </a:rPr>
              <a:t>npm install</a:t>
            </a:r>
          </a:p>
        </p:txBody>
      </p:sp>
      <p:sp>
        <p:nvSpPr>
          <p:cNvPr id="7" name="Rounded Rectangle 6"/>
          <p:cNvSpPr/>
          <p:nvPr/>
        </p:nvSpPr>
        <p:spPr>
          <a:xfrm>
            <a:off x="4480560" y="2606040"/>
            <a:ext cx="3291840" cy="13716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8" name="TextBox 7"/>
          <p:cNvSpPr txBox="1"/>
          <p:nvPr/>
        </p:nvSpPr>
        <p:spPr>
          <a:xfrm>
            <a:off x="4480560" y="2761488"/>
            <a:ext cx="3291840" cy="457200"/>
          </a:xfrm>
          <a:prstGeom prst="rect">
            <a:avLst/>
          </a:prstGeom>
          <a:noFill/>
        </p:spPr>
        <p:txBody>
          <a:bodyPr wrap="square" anchor="t" lIns="0" rIns="0" tIns="0" bIns="0">
            <a:spAutoFit/>
          </a:bodyPr>
          <a:lstStyle/>
          <a:p>
            <a:pPr algn="ctr">
              <a:lnSpc>
                <a:spcPct val="112000"/>
              </a:lnSpc>
            </a:pPr>
            <a:r>
              <a:rPr sz="1300" b="0">
                <a:solidFill>
                  <a:srgbClr val="595959"/>
                </a:solidFill>
                <a:latin typeface="微软雅黑"/>
                <a:ea typeface="微软雅黑"/>
              </a:rPr>
              <a:t>第 2 步</a:t>
            </a:r>
          </a:p>
        </p:txBody>
      </p:sp>
      <p:sp>
        <p:nvSpPr>
          <p:cNvPr id="9" name="TextBox 8"/>
          <p:cNvSpPr txBox="1"/>
          <p:nvPr/>
        </p:nvSpPr>
        <p:spPr>
          <a:xfrm>
            <a:off x="4480560" y="3154680"/>
            <a:ext cx="3291840" cy="548640"/>
          </a:xfrm>
          <a:prstGeom prst="rect">
            <a:avLst/>
          </a:prstGeom>
          <a:noFill/>
        </p:spPr>
        <p:txBody>
          <a:bodyPr wrap="square" anchor="t" lIns="0" rIns="0" tIns="0" bIns="0">
            <a:spAutoFit/>
          </a:bodyPr>
          <a:lstStyle/>
          <a:p>
            <a:pPr algn="ctr">
              <a:lnSpc>
                <a:spcPct val="112000"/>
              </a:lnSpc>
            </a:pPr>
            <a:r>
              <a:rPr sz="2000" b="1">
                <a:solidFill>
                  <a:srgbClr val="1F4E79"/>
                </a:solidFill>
                <a:latin typeface="微软雅黑"/>
                <a:ea typeface="微软雅黑"/>
              </a:rPr>
              <a:t>npm run build</a:t>
            </a:r>
          </a:p>
        </p:txBody>
      </p:sp>
      <p:sp>
        <p:nvSpPr>
          <p:cNvPr id="10" name="Rounded Rectangle 9"/>
          <p:cNvSpPr/>
          <p:nvPr/>
        </p:nvSpPr>
        <p:spPr>
          <a:xfrm>
            <a:off x="8138160" y="2606040"/>
            <a:ext cx="3291840" cy="1371600"/>
          </a:xfrm>
          <a:prstGeom prst="roundRect">
            <a:avLst/>
          </a:prstGeom>
          <a:solidFill>
            <a:srgbClr val="F2F7FC"/>
          </a:solidFill>
          <a:ln w="12700">
            <a:solidFill>
              <a:srgbClr val="BDD7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p>
        </p:txBody>
      </p:sp>
      <p:sp>
        <p:nvSpPr>
          <p:cNvPr id="11" name="TextBox 10"/>
          <p:cNvSpPr txBox="1"/>
          <p:nvPr/>
        </p:nvSpPr>
        <p:spPr>
          <a:xfrm>
            <a:off x="8138160" y="2761488"/>
            <a:ext cx="3291840" cy="457200"/>
          </a:xfrm>
          <a:prstGeom prst="rect">
            <a:avLst/>
          </a:prstGeom>
          <a:noFill/>
        </p:spPr>
        <p:txBody>
          <a:bodyPr wrap="square" anchor="t" lIns="0" rIns="0" tIns="0" bIns="0">
            <a:spAutoFit/>
          </a:bodyPr>
          <a:lstStyle/>
          <a:p>
            <a:pPr algn="ctr">
              <a:lnSpc>
                <a:spcPct val="112000"/>
              </a:lnSpc>
            </a:pPr>
            <a:r>
              <a:rPr sz="1300" b="0">
                <a:solidFill>
                  <a:srgbClr val="595959"/>
                </a:solidFill>
                <a:latin typeface="微软雅黑"/>
                <a:ea typeface="微软雅黑"/>
              </a:rPr>
              <a:t>第 3 步</a:t>
            </a:r>
          </a:p>
        </p:txBody>
      </p:sp>
      <p:sp>
        <p:nvSpPr>
          <p:cNvPr id="12" name="TextBox 11"/>
          <p:cNvSpPr txBox="1"/>
          <p:nvPr/>
        </p:nvSpPr>
        <p:spPr>
          <a:xfrm>
            <a:off x="8138160" y="3154680"/>
            <a:ext cx="3291840" cy="548640"/>
          </a:xfrm>
          <a:prstGeom prst="rect">
            <a:avLst/>
          </a:prstGeom>
          <a:noFill/>
        </p:spPr>
        <p:txBody>
          <a:bodyPr wrap="square" anchor="t" lIns="0" rIns="0" tIns="0" bIns="0">
            <a:spAutoFit/>
          </a:bodyPr>
          <a:lstStyle/>
          <a:p>
            <a:pPr algn="ctr">
              <a:lnSpc>
                <a:spcPct val="112000"/>
              </a:lnSpc>
            </a:pPr>
            <a:r>
              <a:rPr sz="2000" b="1">
                <a:solidFill>
                  <a:srgbClr val="1F4E79"/>
                </a:solidFill>
                <a:latin typeface="微软雅黑"/>
                <a:ea typeface="微软雅黑"/>
              </a:rPr>
              <a:t>npm start</a:t>
            </a:r>
          </a:p>
        </p:txBody>
      </p:sp>
      <p:sp>
        <p:nvSpPr>
          <p:cNvPr id="13" name="TextBox 12"/>
          <p:cNvSpPr txBox="1"/>
          <p:nvPr/>
        </p:nvSpPr>
        <p:spPr>
          <a:xfrm>
            <a:off x="822960" y="4343400"/>
            <a:ext cx="10515600" cy="731520"/>
          </a:xfrm>
          <a:prstGeom prst="rect">
            <a:avLst/>
          </a:prstGeom>
          <a:noFill/>
        </p:spPr>
        <p:txBody>
          <a:bodyPr wrap="square" anchor="t" lIns="0" rIns="0" tIns="0" bIns="0">
            <a:spAutoFit/>
          </a:bodyPr>
          <a:lstStyle/>
          <a:p>
            <a:pPr algn="l">
              <a:lnSpc>
                <a:spcPct val="135000"/>
              </a:lnSpc>
            </a:pPr>
            <a:r>
              <a:rPr sz="1500" b="0">
                <a:solidFill>
                  <a:srgbClr val="595959"/>
                </a:solidFill>
                <a:latin typeface="微软雅黑"/>
                <a:ea typeface="微软雅黑"/>
              </a:rPr>
              <a:t>三步部署，无需安装数据库、无需大模型 Key 即可评审体验（离线演示模式）；</a:t>
            </a:r>
          </a:p>
          <a:p>
            <a:pPr algn="l">
              <a:lnSpc>
                <a:spcPct val="135000"/>
              </a:lnSpc>
            </a:pPr>
            <a:r>
              <a:rPr sz="1500" b="0">
                <a:solidFill>
                  <a:srgbClr val="595959"/>
                </a:solidFill>
                <a:latin typeface="微软雅黑"/>
                <a:ea typeface="微软雅黑"/>
              </a:rPr>
              <a:t>配置 Key 与 Neo4j 后无缝切换在线模式与生产图数据库。</a:t>
            </a:r>
          </a:p>
        </p:txBody>
      </p:sp>
      <p:sp>
        <p:nvSpPr>
          <p:cNvPr id="14" name="TextBox 13"/>
          <p:cNvSpPr txBox="1"/>
          <p:nvPr/>
        </p:nvSpPr>
        <p:spPr>
          <a:xfrm>
            <a:off x="822960" y="5623560"/>
            <a:ext cx="10515600" cy="731520"/>
          </a:xfrm>
          <a:prstGeom prst="rect">
            <a:avLst/>
          </a:prstGeom>
          <a:noFill/>
        </p:spPr>
        <p:txBody>
          <a:bodyPr wrap="square" anchor="t" lIns="0" rIns="0" tIns="0" bIns="0">
            <a:spAutoFit/>
          </a:bodyPr>
          <a:lstStyle/>
          <a:p>
            <a:pPr algn="l">
              <a:lnSpc>
                <a:spcPct val="112000"/>
              </a:lnSpc>
            </a:pPr>
            <a:r>
              <a:rPr sz="1400" b="0">
                <a:solidFill>
                  <a:srgbClr val="595959"/>
                </a:solidFill>
                <a:latin typeface="微软雅黑"/>
                <a:ea typeface="微软雅黑"/>
              </a:rPr>
              <a:t>谢谢观看　｜　参赛团队：【待填】　｜　完整材料：项目详细方案 · 概要介绍 · 演示视频 · 合规对照表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